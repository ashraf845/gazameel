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6858000" type="screen4x3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 varScale="1">
        <p:scale>
          <a:sx n="84" d="100"/>
          <a:sy n="84" d="100"/>
        </p:scale>
        <p:origin x="1426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F794BCDB-F0DC-45DE-AB35-3C30D31AED16}" type="datetimeFigureOut">
              <a:rPr lang="ar-SA" smtClean="0"/>
              <a:t>23/12/1443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CE25D774-9F88-49AB-8F77-C20788927BB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222220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ar-SA" smtClean="0"/>
              <a:t>انقر لتحرير نمط العنوان الثانوي الرئيسي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D2A9-7CC6-4EB2-B8CF-0EBAF5210A0F}" type="datetimeFigureOut">
              <a:rPr lang="ar-SA" smtClean="0"/>
              <a:t>23/12/1443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F43E-42C4-428A-BBAC-5ECA4CCE2B5F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D2A9-7CC6-4EB2-B8CF-0EBAF5210A0F}" type="datetimeFigureOut">
              <a:rPr lang="ar-SA" smtClean="0"/>
              <a:t>23/12/1443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F43E-42C4-428A-BBAC-5ECA4CCE2B5F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D2A9-7CC6-4EB2-B8CF-0EBAF5210A0F}" type="datetimeFigureOut">
              <a:rPr lang="ar-SA" smtClean="0"/>
              <a:t>23/12/1443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F43E-42C4-428A-BBAC-5ECA4CCE2B5F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D2A9-7CC6-4EB2-B8CF-0EBAF5210A0F}" type="datetimeFigureOut">
              <a:rPr lang="ar-SA" smtClean="0"/>
              <a:t>23/12/1443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F43E-42C4-428A-BBAC-5ECA4CCE2B5F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5" name="عنصر نائب للنص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D2A9-7CC6-4EB2-B8CF-0EBAF5210A0F}" type="datetimeFigureOut">
              <a:rPr lang="ar-SA" smtClean="0"/>
              <a:t>23/12/1443</a:t>
            </a:fld>
            <a:endParaRPr lang="ar-SA"/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F43E-42C4-428A-BBAC-5ECA4CCE2B5F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D2A9-7CC6-4EB2-B8CF-0EBAF5210A0F}" type="datetimeFigureOut">
              <a:rPr lang="ar-SA" smtClean="0"/>
              <a:t>23/12/1443</a:t>
            </a:fld>
            <a:endParaRPr lang="ar-SA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F43E-42C4-428A-BBAC-5ECA4CCE2B5F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D2A9-7CC6-4EB2-B8CF-0EBAF5210A0F}" type="datetimeFigureOut">
              <a:rPr lang="ar-SA" smtClean="0"/>
              <a:t>23/12/1443</a:t>
            </a:fld>
            <a:endParaRPr lang="ar-SA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F43E-42C4-428A-BBAC-5ECA4CCE2B5F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D2A9-7CC6-4EB2-B8CF-0EBAF5210A0F}" type="datetimeFigureOut">
              <a:rPr lang="ar-SA" smtClean="0"/>
              <a:t>23/12/1443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F43E-42C4-428A-BBAC-5ECA4CCE2B5F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D2A9-7CC6-4EB2-B8CF-0EBAF5210A0F}" type="datetimeFigureOut">
              <a:rPr lang="ar-SA" smtClean="0"/>
              <a:t>23/12/1443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F43E-42C4-428A-BBAC-5ECA4CCE2B5F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D2A9-7CC6-4EB2-B8CF-0EBAF5210A0F}" type="datetimeFigureOut">
              <a:rPr lang="ar-SA" smtClean="0"/>
              <a:t>23/12/1443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F43E-42C4-428A-BBAC-5ECA4CCE2B5F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D2A9-7CC6-4EB2-B8CF-0EBAF5210A0F}" type="datetimeFigureOut">
              <a:rPr lang="ar-SA" smtClean="0"/>
              <a:t>23/12/1443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F43E-42C4-428A-BBAC-5ECA4CCE2B5F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FD2A9-7CC6-4EB2-B8CF-0EBAF5210A0F}" type="datetimeFigureOut">
              <a:rPr lang="ar-SA" smtClean="0"/>
              <a:t>23/12/1443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97F43E-42C4-428A-BBAC-5ECA4CCE2B5F}" type="slidenum">
              <a:rPr lang="ar-SA" smtClean="0"/>
              <a:t>‹#›</a:t>
            </a:fld>
            <a:endParaRPr lang="ar-S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ar-SA" dirty="0" smtClean="0">
                <a:solidFill>
                  <a:srgbClr val="0070C0"/>
                </a:solidFill>
                <a:cs typeface="Bader" pitchFamily="2" charset="-78"/>
              </a:rPr>
              <a:t>مساق قرآن </a:t>
            </a:r>
            <a:r>
              <a:rPr lang="ar-SA" dirty="0" smtClean="0">
                <a:solidFill>
                  <a:srgbClr val="0070C0"/>
                </a:solidFill>
                <a:cs typeface="Bader" pitchFamily="2" charset="-78"/>
              </a:rPr>
              <a:t>كريم3</a:t>
            </a:r>
            <a:endParaRPr lang="ar-SA" dirty="0">
              <a:solidFill>
                <a:srgbClr val="0070C0"/>
              </a:solidFill>
              <a:cs typeface="Bader" pitchFamily="2" charset="-78"/>
            </a:endParaRPr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1371600" y="3861048"/>
            <a:ext cx="6400800" cy="1752600"/>
          </a:xfrm>
        </p:spPr>
        <p:txBody>
          <a:bodyPr/>
          <a:lstStyle/>
          <a:p>
            <a:r>
              <a:rPr lang="ar-SA" dirty="0" smtClean="0">
                <a:solidFill>
                  <a:schemeClr val="tx2">
                    <a:lumMod val="50000"/>
                  </a:schemeClr>
                </a:solidFill>
              </a:rPr>
              <a:t>د. إبراهيم عيسى إبراهيم </a:t>
            </a:r>
            <a:r>
              <a:rPr lang="ar-SA" dirty="0" err="1" smtClean="0">
                <a:solidFill>
                  <a:schemeClr val="tx2">
                    <a:lumMod val="50000"/>
                  </a:schemeClr>
                </a:solidFill>
              </a:rPr>
              <a:t>صيدم</a:t>
            </a:r>
            <a:endParaRPr lang="ar-SA" dirty="0" smtClean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ar-SA" dirty="0" smtClean="0">
                <a:solidFill>
                  <a:schemeClr val="tx2">
                    <a:lumMod val="50000"/>
                  </a:schemeClr>
                </a:solidFill>
              </a:rPr>
              <a:t>أصول الدين</a:t>
            </a:r>
          </a:p>
          <a:p>
            <a:r>
              <a:rPr lang="ar-SA" dirty="0" smtClean="0">
                <a:solidFill>
                  <a:schemeClr val="tx2">
                    <a:lumMod val="50000"/>
                  </a:schemeClr>
                </a:solidFill>
              </a:rPr>
              <a:t>قسم التفسير وعلوم القرآن</a:t>
            </a:r>
            <a:endParaRPr lang="ar-SA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ar-SA" dirty="0" smtClean="0">
                <a:cs typeface="Bader" pitchFamily="2" charset="-78"/>
              </a:rPr>
              <a:t>التفخيم والترقيق</a:t>
            </a:r>
            <a:endParaRPr lang="ar-SA" dirty="0">
              <a:cs typeface="Bader" pitchFamily="2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642910" y="458777"/>
            <a:ext cx="7772400" cy="1470025"/>
          </a:xfrm>
        </p:spPr>
        <p:txBody>
          <a:bodyPr/>
          <a:lstStyle/>
          <a:p>
            <a:r>
              <a:rPr lang="ar-SA" dirty="0" smtClean="0">
                <a:cs typeface="Bader" pitchFamily="2" charset="-78"/>
                <a:sym typeface="AGA Arabesque"/>
              </a:rPr>
              <a:t>تعريف التفخيم والترقيق</a:t>
            </a:r>
            <a:endParaRPr lang="ar-SA" dirty="0"/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1357290" y="1785926"/>
            <a:ext cx="6400800" cy="3929090"/>
          </a:xfrm>
        </p:spPr>
        <p:txBody>
          <a:bodyPr>
            <a:normAutofit lnSpcReduction="10000"/>
          </a:bodyPr>
          <a:lstStyle/>
          <a:p>
            <a:pPr algn="r"/>
            <a:r>
              <a:rPr lang="ar-SA" sz="3600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AGA Arabesque"/>
              </a:rPr>
              <a:t>* التفخيم: لغة: التسمين.</a:t>
            </a:r>
            <a:br>
              <a:rPr lang="ar-SA" sz="3600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AGA Arabesque"/>
              </a:rPr>
            </a:br>
            <a:r>
              <a:rPr lang="ar-SA" sz="3600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AGA Arabesque"/>
              </a:rPr>
              <a:t>اصطلاحاً: سُمنٌ يدخل على صوت الحرف عند النطق به فيمتلئ الفم بصداه.</a:t>
            </a:r>
          </a:p>
          <a:p>
            <a:pPr algn="r"/>
            <a:r>
              <a:rPr lang="ar-SA" sz="3600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AGA Arabesque"/>
              </a:rPr>
              <a:t>التغليظ يغلب في </a:t>
            </a:r>
            <a:r>
              <a:rPr lang="ar-SA" sz="3600" dirty="0" err="1" smtClean="0">
                <a:solidFill>
                  <a:schemeClr val="tx1">
                    <a:lumMod val="95000"/>
                    <a:lumOff val="5000"/>
                  </a:schemeClr>
                </a:solidFill>
                <a:sym typeface="AGA Arabesque"/>
              </a:rPr>
              <a:t>اللامات</a:t>
            </a:r>
            <a:r>
              <a:rPr lang="ar-SA" sz="3600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AGA Arabesque"/>
              </a:rPr>
              <a:t>.</a:t>
            </a:r>
          </a:p>
          <a:p>
            <a:pPr algn="r"/>
            <a:r>
              <a:rPr lang="ar-SA" sz="3600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AGA Arabesque"/>
              </a:rPr>
              <a:t>* الترقيق: لغة: التنحيل والتنحيف.</a:t>
            </a:r>
          </a:p>
          <a:p>
            <a:pPr algn="r"/>
            <a:r>
              <a:rPr lang="ar-SA" sz="3600" dirty="0" smtClean="0">
                <a:solidFill>
                  <a:schemeClr val="tx1">
                    <a:lumMod val="95000"/>
                    <a:lumOff val="5000"/>
                  </a:schemeClr>
                </a:solidFill>
                <a:sym typeface="AGA Arabesque"/>
              </a:rPr>
              <a:t>اصطلاحاً: نحول يدخل على صوت الحرف عند النطق به فلا يمتلئ الفم بصداه.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611560" y="620688"/>
            <a:ext cx="7920880" cy="5737270"/>
          </a:xfrm>
        </p:spPr>
        <p:txBody>
          <a:bodyPr/>
          <a:lstStyle/>
          <a:p>
            <a:pPr algn="just"/>
            <a:r>
              <a:rPr lang="ar-SA" sz="3600" dirty="0" smtClean="0">
                <a:solidFill>
                  <a:srgbClr val="C00000"/>
                </a:solidFill>
                <a:sym typeface="AGA Arabesque"/>
              </a:rPr>
              <a:t>* التفخيم يكون باستعلاء أقصى اللسان وتوسيع تجويف الفم وتضييق الشفتين، والترقيق عكسه.</a:t>
            </a:r>
          </a:p>
          <a:p>
            <a:pPr algn="just"/>
            <a:r>
              <a:rPr lang="ar-SA" sz="3600" b="1" dirty="0" smtClean="0">
                <a:solidFill>
                  <a:schemeClr val="tx2">
                    <a:lumMod val="50000"/>
                  </a:schemeClr>
                </a:solidFill>
              </a:rPr>
              <a:t>* أقسام الحروف من حيث التفخيم والترقيق:</a:t>
            </a:r>
          </a:p>
          <a:p>
            <a:pPr algn="just"/>
            <a:r>
              <a:rPr lang="ar-SA" sz="3600" b="1" dirty="0" smtClean="0">
                <a:solidFill>
                  <a:schemeClr val="tx2">
                    <a:lumMod val="50000"/>
                  </a:schemeClr>
                </a:solidFill>
              </a:rPr>
              <a:t>ما يفخم دائماً – ما يرقق دائماً – الحالتان.</a:t>
            </a:r>
          </a:p>
          <a:p>
            <a:pPr algn="just"/>
            <a:r>
              <a:rPr lang="ar-SA" sz="3600" b="1" dirty="0" smtClean="0">
                <a:solidFill>
                  <a:srgbClr val="C00000"/>
                </a:solidFill>
                <a:sym typeface="AGA Arabesque"/>
              </a:rPr>
              <a:t>القسم الأول: ما يفخم دائماً:</a:t>
            </a:r>
            <a:endParaRPr lang="ar-SA" sz="3600" b="1" dirty="0">
              <a:solidFill>
                <a:schemeClr val="tx2">
                  <a:lumMod val="50000"/>
                </a:schemeClr>
              </a:solidFill>
              <a:sym typeface="AGA Arabesque"/>
            </a:endParaRPr>
          </a:p>
          <a:p>
            <a:pPr algn="just"/>
            <a:r>
              <a:rPr lang="ar-SA" sz="3600" b="1" dirty="0" smtClean="0">
                <a:solidFill>
                  <a:schemeClr val="tx2">
                    <a:lumMod val="50000"/>
                  </a:schemeClr>
                </a:solidFill>
              </a:rPr>
              <a:t>هي حروف الاستعلاء. (ط، ض، ص، ظ، ق، غ، خ)</a:t>
            </a:r>
          </a:p>
          <a:p>
            <a:pPr algn="just"/>
            <a:r>
              <a:rPr lang="ar-SA" sz="3600" b="1" dirty="0" smtClean="0">
                <a:solidFill>
                  <a:schemeClr val="tx2">
                    <a:lumMod val="50000"/>
                  </a:schemeClr>
                </a:solidFill>
              </a:rPr>
              <a:t>سبب تقديم الصاد على القاف مع أن صفات القوة فيها أكثر؛ لأن الصاد مطبقة والقاف منفتحة.</a:t>
            </a:r>
          </a:p>
          <a:p>
            <a:pPr algn="just"/>
            <a:endParaRPr lang="ar-SA" sz="3600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539552" y="500042"/>
            <a:ext cx="7992888" cy="5857916"/>
          </a:xfrm>
        </p:spPr>
        <p:txBody>
          <a:bodyPr>
            <a:normAutofit/>
          </a:bodyPr>
          <a:lstStyle/>
          <a:p>
            <a:pPr algn="r"/>
            <a:r>
              <a:rPr lang="ar-SA" sz="3600" b="1" dirty="0" smtClean="0">
                <a:solidFill>
                  <a:srgbClr val="C00000"/>
                </a:solidFill>
                <a:sym typeface="AGA Arabesque"/>
              </a:rPr>
              <a:t>* مراتب التفخيم:</a:t>
            </a:r>
            <a:endParaRPr lang="ar-SA" sz="3900" b="1" dirty="0">
              <a:solidFill>
                <a:schemeClr val="tx2">
                  <a:lumMod val="50000"/>
                </a:schemeClr>
              </a:solidFill>
              <a:sym typeface="AGA Arabesque"/>
            </a:endParaRPr>
          </a:p>
          <a:p>
            <a:pPr algn="just"/>
            <a:r>
              <a:rPr lang="ar-SA" sz="3900" b="1" dirty="0" smtClean="0">
                <a:solidFill>
                  <a:srgbClr val="C00000"/>
                </a:solidFill>
              </a:rPr>
              <a:t>الأولى: مفتوح بعده ألف. (الطامة، خائفين) </a:t>
            </a:r>
          </a:p>
          <a:p>
            <a:pPr algn="just"/>
            <a:r>
              <a:rPr lang="ar-SA" sz="3900" b="1" dirty="0" smtClean="0">
                <a:solidFill>
                  <a:srgbClr val="C00000"/>
                </a:solidFill>
              </a:rPr>
              <a:t>الثانية: المفتوح ليس بعده ألف. (طبع)</a:t>
            </a:r>
          </a:p>
          <a:p>
            <a:pPr algn="just"/>
            <a:r>
              <a:rPr lang="ar-SA" sz="3900" b="1" dirty="0" smtClean="0">
                <a:solidFill>
                  <a:srgbClr val="C00000"/>
                </a:solidFill>
              </a:rPr>
              <a:t>الثالثة: المضموم. (طُبِع، قُتِل)</a:t>
            </a:r>
          </a:p>
          <a:p>
            <a:pPr algn="just"/>
            <a:r>
              <a:rPr lang="ar-SA" sz="3900" b="1" dirty="0" smtClean="0">
                <a:solidFill>
                  <a:srgbClr val="C00000"/>
                </a:solidFill>
              </a:rPr>
              <a:t>الرابعة: الساكن. (يطْبع، يضْرب)</a:t>
            </a:r>
          </a:p>
          <a:p>
            <a:pPr algn="just"/>
            <a:r>
              <a:rPr lang="ar-SA" sz="3900" b="1" dirty="0" smtClean="0">
                <a:solidFill>
                  <a:srgbClr val="C00000"/>
                </a:solidFill>
              </a:rPr>
              <a:t>الخامسة: المكسور. (بطِرت، ضِعافاً)</a:t>
            </a:r>
          </a:p>
          <a:p>
            <a:pPr algn="just"/>
            <a:r>
              <a:rPr lang="ar-SA" sz="3900" b="1" dirty="0" smtClean="0">
                <a:solidFill>
                  <a:schemeClr val="tx1"/>
                </a:solidFill>
              </a:rPr>
              <a:t>* تنبيهات:</a:t>
            </a:r>
          </a:p>
          <a:p>
            <a:pPr algn="just"/>
            <a:r>
              <a:rPr lang="ar-SA" sz="3900" b="1" dirty="0" smtClean="0">
                <a:solidFill>
                  <a:schemeClr val="tx1"/>
                </a:solidFill>
              </a:rPr>
              <a:t>1. </a:t>
            </a:r>
            <a:r>
              <a:rPr lang="ar-SA" sz="3900" b="1" dirty="0" err="1" smtClean="0">
                <a:solidFill>
                  <a:schemeClr val="tx1"/>
                </a:solidFill>
              </a:rPr>
              <a:t>المفخم</a:t>
            </a:r>
            <a:r>
              <a:rPr lang="ar-SA" sz="3900" b="1" dirty="0" smtClean="0">
                <a:solidFill>
                  <a:schemeClr val="tx1"/>
                </a:solidFill>
              </a:rPr>
              <a:t> المشدد أقوى من المخفف.</a:t>
            </a:r>
          </a:p>
          <a:p>
            <a:pPr algn="just"/>
            <a:endParaRPr lang="ar-SA" sz="3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683568" y="500042"/>
            <a:ext cx="7776864" cy="5857916"/>
          </a:xfrm>
        </p:spPr>
        <p:txBody>
          <a:bodyPr>
            <a:normAutofit/>
          </a:bodyPr>
          <a:lstStyle/>
          <a:p>
            <a:pPr algn="r"/>
            <a:r>
              <a:rPr lang="ar-SA" sz="3600" b="1" dirty="0" smtClean="0">
                <a:solidFill>
                  <a:srgbClr val="C00000"/>
                </a:solidFill>
              </a:rPr>
              <a:t>2. التفخيم نسبي في:</a:t>
            </a:r>
          </a:p>
          <a:p>
            <a:pPr algn="r"/>
            <a:r>
              <a:rPr lang="ar-SA" sz="3600" b="1" dirty="0" smtClean="0">
                <a:solidFill>
                  <a:srgbClr val="C00000"/>
                </a:solidFill>
              </a:rPr>
              <a:t>(غ): (من غِل) - (لا تُزِغ) - (يزيغ، زيغ).</a:t>
            </a:r>
          </a:p>
          <a:p>
            <a:pPr algn="just"/>
            <a:r>
              <a:rPr lang="ar-SA" sz="3600" b="1" dirty="0" smtClean="0">
                <a:solidFill>
                  <a:srgbClr val="C00000"/>
                </a:solidFill>
              </a:rPr>
              <a:t>(خ): (من خلاف) </a:t>
            </a:r>
            <a:r>
              <a:rPr lang="ar-SA" sz="3600" b="1" smtClean="0">
                <a:solidFill>
                  <a:srgbClr val="C00000"/>
                </a:solidFill>
              </a:rPr>
              <a:t>ـ إخواناً </a:t>
            </a:r>
            <a:r>
              <a:rPr lang="ar-SA" sz="3600" b="1" dirty="0" smtClean="0">
                <a:solidFill>
                  <a:srgbClr val="C00000"/>
                </a:solidFill>
              </a:rPr>
              <a:t>– (شيخ).</a:t>
            </a:r>
          </a:p>
          <a:p>
            <a:pPr algn="just"/>
            <a:r>
              <a:rPr lang="ar-SA" sz="3600" b="1" dirty="0" smtClean="0">
                <a:solidFill>
                  <a:srgbClr val="C00000"/>
                </a:solidFill>
              </a:rPr>
              <a:t>يستثنى من الخاء (إخرَاجاً، وقالت اخرُج)</a:t>
            </a:r>
          </a:p>
          <a:p>
            <a:pPr algn="just"/>
            <a:r>
              <a:rPr lang="ar-SA" sz="3600" b="1" dirty="0" smtClean="0">
                <a:solidFill>
                  <a:schemeClr val="tx2">
                    <a:lumMod val="50000"/>
                  </a:schemeClr>
                </a:solidFill>
                <a:sym typeface="AGA Arabesque"/>
              </a:rPr>
              <a:t>القسم الثاني: الحروف التي ترقق دائماً:</a:t>
            </a:r>
            <a:endParaRPr lang="ar-SA" sz="3600" dirty="0">
              <a:sym typeface="AGA Arabesque"/>
            </a:endParaRPr>
          </a:p>
          <a:p>
            <a:pPr algn="just"/>
            <a:r>
              <a:rPr lang="ar-SA" sz="3600" dirty="0" smtClean="0">
                <a:solidFill>
                  <a:schemeClr val="tx2">
                    <a:lumMod val="50000"/>
                  </a:schemeClr>
                </a:solidFill>
                <a:sym typeface="AGA Arabesque"/>
              </a:rPr>
              <a:t>وهي حروف </a:t>
            </a:r>
            <a:r>
              <a:rPr lang="ar-SA" sz="3600" dirty="0" err="1" smtClean="0">
                <a:solidFill>
                  <a:schemeClr val="tx2">
                    <a:lumMod val="50000"/>
                  </a:schemeClr>
                </a:solidFill>
                <a:sym typeface="AGA Arabesque"/>
              </a:rPr>
              <a:t>الاستفال</a:t>
            </a:r>
            <a:r>
              <a:rPr lang="ar-SA" sz="3600" dirty="0" smtClean="0">
                <a:solidFill>
                  <a:schemeClr val="tx2">
                    <a:lumMod val="50000"/>
                  </a:schemeClr>
                </a:solidFill>
                <a:sym typeface="AGA Arabesque"/>
              </a:rPr>
              <a:t> عدا (الألف، اللام في لفظ الجلالة، الراء).</a:t>
            </a:r>
          </a:p>
          <a:p>
            <a:pPr algn="just"/>
            <a:r>
              <a:rPr lang="ar-SA" sz="3600" dirty="0" smtClean="0">
                <a:solidFill>
                  <a:schemeClr val="tx2">
                    <a:lumMod val="50000"/>
                  </a:schemeClr>
                </a:solidFill>
                <a:sym typeface="AGA Arabesque"/>
              </a:rPr>
              <a:t>تنبيه: </a:t>
            </a:r>
          </a:p>
          <a:p>
            <a:pPr algn="just"/>
            <a:r>
              <a:rPr lang="ar-SA" sz="3600" dirty="0" smtClean="0">
                <a:solidFill>
                  <a:schemeClr val="tx2">
                    <a:lumMod val="50000"/>
                  </a:schemeClr>
                </a:solidFill>
                <a:sym typeface="AGA Arabesque"/>
              </a:rPr>
              <a:t>حروف </a:t>
            </a:r>
            <a:r>
              <a:rPr lang="ar-SA" sz="3600" dirty="0" err="1" smtClean="0">
                <a:solidFill>
                  <a:schemeClr val="tx2">
                    <a:lumMod val="50000"/>
                  </a:schemeClr>
                </a:solidFill>
                <a:sym typeface="AGA Arabesque"/>
              </a:rPr>
              <a:t>الاستفال</a:t>
            </a:r>
            <a:r>
              <a:rPr lang="ar-SA" sz="3600" dirty="0" smtClean="0">
                <a:solidFill>
                  <a:schemeClr val="tx2">
                    <a:lumMod val="50000"/>
                  </a:schemeClr>
                </a:solidFill>
                <a:sym typeface="AGA Arabesque"/>
              </a:rPr>
              <a:t> التي تجاور حرف تفخيم.</a:t>
            </a:r>
            <a:endParaRPr lang="ar-SA" sz="3600" dirty="0">
              <a:solidFill>
                <a:schemeClr val="tx2">
                  <a:lumMod val="50000"/>
                </a:schemeClr>
              </a:solidFill>
              <a:sym typeface="AGA Arabesqu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r-SA" sz="3600" dirty="0" smtClean="0"/>
              <a:t>ـ أمثلة:</a:t>
            </a:r>
          </a:p>
          <a:p>
            <a:pPr marL="0" indent="0">
              <a:buNone/>
            </a:pPr>
            <a:r>
              <a:rPr lang="ar-SA" sz="3600" dirty="0" smtClean="0"/>
              <a:t>أصلح ـ بطل ـ باطل ـ باسط ـ أفتطمعون ـ تطوع ـ يثقفوكم ـ حصحص الحق ـ فاصفح ـ تجارة ـ صدق ـ فاصدع ـ ءأنذرتهم ـ المنذرين ـ محذوراً ـ زرعاً ـ الزقوم ـ مسطوراً ـ الشيطان ـ شطر ـ شجرة ـ بشروه ـ عاصف ـ والعصر ـ العرش ـ فطر ـ فاطر ـ كصاحب ـ مرض ـ مخمصة ـ الأنهار ـ والله ـ وضرب ـ شواظ ـ واصب ـ يضرب ـ يخرج ـ يظلم.</a:t>
            </a:r>
          </a:p>
          <a:p>
            <a:pPr marL="0" indent="0">
              <a:buNone/>
            </a:pPr>
            <a:endParaRPr lang="ar-SA" sz="3600" dirty="0"/>
          </a:p>
        </p:txBody>
      </p:sp>
    </p:spTree>
    <p:extLst>
      <p:ext uri="{BB962C8B-B14F-4D97-AF65-F5344CB8AC3E}">
        <p14:creationId xmlns:p14="http://schemas.microsoft.com/office/powerpoint/2010/main" val="1171811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r-SA" sz="3600" b="1" dirty="0" smtClean="0"/>
              <a:t>القسم الثالث: الحروف التي تفخم وترقق:</a:t>
            </a:r>
          </a:p>
          <a:p>
            <a:pPr marL="0" indent="0">
              <a:buNone/>
            </a:pPr>
            <a:r>
              <a:rPr lang="ar-SA" sz="3600" dirty="0" smtClean="0"/>
              <a:t>هي: الألف ـ واللام في لفظ الجلالة ـ والراء.</a:t>
            </a:r>
          </a:p>
          <a:p>
            <a:pPr marL="0" indent="0">
              <a:buNone/>
            </a:pPr>
            <a:r>
              <a:rPr lang="ar-SA" sz="3600" b="1" dirty="0" smtClean="0"/>
              <a:t>أولاً: الألف:</a:t>
            </a:r>
          </a:p>
          <a:p>
            <a:pPr marL="0" indent="0">
              <a:buNone/>
            </a:pPr>
            <a:r>
              <a:rPr lang="ar-SA" sz="3600" dirty="0" smtClean="0"/>
              <a:t>ـ لا توصف بتفخيم ولا بترقيق، إنما هي تابعة لما قبلها.</a:t>
            </a:r>
          </a:p>
          <a:p>
            <a:pPr marL="0" indent="0">
              <a:buNone/>
            </a:pPr>
            <a:r>
              <a:rPr lang="ar-SA" sz="3600" dirty="0" smtClean="0"/>
              <a:t>ـ الألف في لفظ الجلالة حسب تغليظ اللام أو ترقيقها.</a:t>
            </a:r>
          </a:p>
          <a:p>
            <a:pPr marL="0" indent="0">
              <a:buNone/>
            </a:pPr>
            <a:r>
              <a:rPr lang="ar-SA" sz="3600" dirty="0" smtClean="0"/>
              <a:t>ـ الألف بعد الراء مفخمة (يستثنى مجرـ</a:t>
            </a:r>
            <a:r>
              <a:rPr lang="ar-SA" sz="3600" baseline="30000" dirty="0" smtClean="0"/>
              <a:t>ا</a:t>
            </a:r>
            <a:r>
              <a:rPr lang="ar-SA" sz="3600" dirty="0" smtClean="0"/>
              <a:t>ـها).</a:t>
            </a:r>
          </a:p>
          <a:p>
            <a:pPr marL="0" indent="0">
              <a:buNone/>
            </a:pPr>
            <a:r>
              <a:rPr lang="ar-SA" sz="3600" dirty="0" smtClean="0"/>
              <a:t>ـ الغنة في الإخفاء الحقيقي تتبع ما بعدها، عكس الألف.</a:t>
            </a:r>
            <a:endParaRPr lang="ar-SA" sz="3600" dirty="0"/>
          </a:p>
        </p:txBody>
      </p:sp>
    </p:spTree>
    <p:extLst>
      <p:ext uri="{BB962C8B-B14F-4D97-AF65-F5344CB8AC3E}">
        <p14:creationId xmlns:p14="http://schemas.microsoft.com/office/powerpoint/2010/main" val="1603135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ar-SA" sz="3600" b="1" dirty="0" smtClean="0"/>
              <a:t>ثانياً: اللام في لفظ الجلالة: (الله ، اللهم)</a:t>
            </a:r>
          </a:p>
          <a:p>
            <a:pPr marL="0" indent="0">
              <a:buNone/>
            </a:pPr>
            <a:r>
              <a:rPr lang="ar-SA" sz="3600" dirty="0" smtClean="0"/>
              <a:t>* حالات التفخيم:</a:t>
            </a:r>
          </a:p>
          <a:p>
            <a:pPr marL="0" indent="0">
              <a:buNone/>
            </a:pPr>
            <a:r>
              <a:rPr lang="ar-SA" sz="3600" dirty="0" smtClean="0"/>
              <a:t>1. عند الابتداء بها (الله لا إله إلا هو الحي القيوم)</a:t>
            </a:r>
            <a:br>
              <a:rPr lang="ar-SA" sz="3600" dirty="0" smtClean="0"/>
            </a:br>
            <a:r>
              <a:rPr lang="ar-SA" sz="3600" dirty="0" smtClean="0"/>
              <a:t>2. إذا سبقت بفتح أصلي أو عارض (قالَ الله، منَ الله)</a:t>
            </a:r>
          </a:p>
          <a:p>
            <a:pPr marL="0" indent="0">
              <a:buNone/>
            </a:pPr>
            <a:r>
              <a:rPr lang="ar-SA" sz="3600" dirty="0" smtClean="0"/>
              <a:t>3. المسبوقة بضم أصلي أو عارض </a:t>
            </a:r>
            <a:r>
              <a:rPr lang="ar-SA" dirty="0" smtClean="0"/>
              <a:t>(رسولُ الله، لهمُ الله)</a:t>
            </a:r>
          </a:p>
          <a:p>
            <a:pPr marL="0" indent="0">
              <a:buNone/>
            </a:pPr>
            <a:r>
              <a:rPr lang="ar-SA" sz="3600" dirty="0" smtClean="0"/>
              <a:t>4. المسبوقة بواو أو ألف مدية (قالوا اللهم، على الله)</a:t>
            </a:r>
          </a:p>
          <a:p>
            <a:pPr marL="0" indent="0">
              <a:buNone/>
            </a:pPr>
            <a:r>
              <a:rPr lang="ar-SA" sz="3600" dirty="0" smtClean="0"/>
              <a:t>* حالات الترقيق:</a:t>
            </a:r>
          </a:p>
          <a:p>
            <a:pPr marL="0" indent="0">
              <a:buNone/>
            </a:pPr>
            <a:r>
              <a:rPr lang="ar-SA" sz="3600" dirty="0" smtClean="0"/>
              <a:t>1. المسبوقة بكسر أصلي أو عارض (بسمِ الله، أم الله)</a:t>
            </a:r>
          </a:p>
          <a:p>
            <a:pPr marL="0" indent="0">
              <a:buNone/>
            </a:pPr>
            <a:r>
              <a:rPr lang="ar-SA" sz="3600" dirty="0" smtClean="0"/>
              <a:t>2. المسبوقة بياء مدية (أفي الله شك).</a:t>
            </a:r>
            <a:endParaRPr lang="ar-SA" sz="3600" dirty="0"/>
          </a:p>
        </p:txBody>
      </p:sp>
    </p:spTree>
    <p:extLst>
      <p:ext uri="{BB962C8B-B14F-4D97-AF65-F5344CB8AC3E}">
        <p14:creationId xmlns:p14="http://schemas.microsoft.com/office/powerpoint/2010/main" val="1603135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r-SA" sz="3600" b="1" dirty="0" smtClean="0"/>
              <a:t>ثالثاً: الراء:</a:t>
            </a:r>
            <a:endParaRPr lang="ar-SA" sz="3600" dirty="0" smtClean="0"/>
          </a:p>
          <a:p>
            <a:pPr marL="0" indent="0">
              <a:buNone/>
            </a:pPr>
            <a:r>
              <a:rPr lang="ar-SA" sz="3600" b="1" dirty="0" smtClean="0"/>
              <a:t>الحالة الأولى: تفخيم الراء:</a:t>
            </a:r>
          </a:p>
          <a:p>
            <a:pPr marL="0" indent="0">
              <a:buNone/>
            </a:pPr>
            <a:r>
              <a:rPr lang="ar-SA" sz="3600" dirty="0" smtClean="0"/>
              <a:t>1. المفتوحة والمضمومة (رَبكم، رُزِقوا)</a:t>
            </a:r>
          </a:p>
          <a:p>
            <a:pPr marL="0" indent="0">
              <a:buNone/>
            </a:pPr>
            <a:r>
              <a:rPr lang="ar-SA" sz="3600" dirty="0" smtClean="0"/>
              <a:t>2. المضمومة الموقوف عليها بالروم </a:t>
            </a:r>
            <a:r>
              <a:rPr lang="ar-SA" dirty="0" smtClean="0"/>
              <a:t>(هو الأول والآخر)</a:t>
            </a:r>
          </a:p>
          <a:p>
            <a:pPr marL="0" indent="0">
              <a:buNone/>
            </a:pPr>
            <a:r>
              <a:rPr lang="ar-SA" sz="3600" dirty="0" smtClean="0"/>
              <a:t>3. الراء الساكنة سكوناً أصلياً أو عارضاً المسبوقة بفتح أو ضم (مَرْيم، ومن كفَر، نُرْسل، يكفُر)</a:t>
            </a:r>
          </a:p>
          <a:p>
            <a:pPr marL="0" indent="0">
              <a:buNone/>
            </a:pPr>
            <a:r>
              <a:rPr lang="ar-SA" sz="3600" dirty="0" smtClean="0"/>
              <a:t>4. الساكنة سكوناً عارضاً لأجل الوقف، مسبوقة بساكن غير الياء، مسبوقة بفتح أو ضم (الأَمْر، النار، الغفور، خُضْر)</a:t>
            </a:r>
          </a:p>
        </p:txBody>
      </p:sp>
    </p:spTree>
    <p:extLst>
      <p:ext uri="{BB962C8B-B14F-4D97-AF65-F5344CB8AC3E}">
        <p14:creationId xmlns:p14="http://schemas.microsoft.com/office/powerpoint/2010/main" val="1603135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r-SA" sz="3600" dirty="0" smtClean="0"/>
              <a:t>5. الساكنة سكوناً أصلياً مسبوقة بكسر متصل بها وبعدها حرف استعلاء مفتوح في نفس الكلمة (إرصاداً)</a:t>
            </a:r>
          </a:p>
          <a:p>
            <a:pPr marL="0" indent="0">
              <a:buNone/>
            </a:pPr>
            <a:r>
              <a:rPr lang="ar-SA" sz="3600" dirty="0" smtClean="0"/>
              <a:t>6. الساكنة سكوناً أصلياً مسبوقة بكسر أصلي مفصول عنها (رب ارحمهما)</a:t>
            </a:r>
          </a:p>
          <a:p>
            <a:pPr marL="0" indent="0">
              <a:buNone/>
            </a:pPr>
            <a:r>
              <a:rPr lang="ar-SA" sz="3600" dirty="0" smtClean="0"/>
              <a:t>7. الساكنة سكوناً أصلياً مسبوقة بكسر عارض متصل بها أو منفصل عنها (ارجعي، إن ارتبتم)</a:t>
            </a:r>
          </a:p>
          <a:p>
            <a:pPr marL="0" indent="0">
              <a:buNone/>
            </a:pPr>
            <a:r>
              <a:rPr lang="ar-SA" sz="3600" dirty="0" smtClean="0">
                <a:solidFill>
                  <a:srgbClr val="C00000"/>
                </a:solidFill>
              </a:rPr>
              <a:t>ملاحظة: الحالتان الأخيرتان يمكن إدراجهما في حالة واحدة وهي</a:t>
            </a:r>
            <a:r>
              <a:rPr lang="ar-SA" sz="3600" dirty="0" smtClean="0">
                <a:solidFill>
                  <a:srgbClr val="C00000"/>
                </a:solidFill>
                <a:sym typeface="Wingdings" pitchFamily="2" charset="2"/>
              </a:rPr>
              <a:t>: (الراء المسبوقة بهمزة وصل).</a:t>
            </a:r>
            <a:endParaRPr lang="ar-SA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3135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ar-SA" sz="3600" b="1" dirty="0" smtClean="0"/>
              <a:t>الحالة الثانية: ترقيق الراء:</a:t>
            </a:r>
          </a:p>
          <a:p>
            <a:pPr marL="0" indent="0">
              <a:buNone/>
            </a:pPr>
            <a:r>
              <a:rPr lang="ar-SA" sz="3600" dirty="0" smtClean="0"/>
              <a:t>1. المكسورة (ريح، ليلة القدرِ خير)</a:t>
            </a:r>
          </a:p>
          <a:p>
            <a:pPr marL="0" indent="0">
              <a:buNone/>
            </a:pPr>
            <a:r>
              <a:rPr lang="ar-SA" sz="3600" dirty="0" smtClean="0"/>
              <a:t>2. الساكنة المسبوقة بكسر أصلي متصل بها وليس بعدها حرف </a:t>
            </a:r>
            <a:r>
              <a:rPr lang="ar-SA" sz="3600" smtClean="0"/>
              <a:t>استعلاء في </a:t>
            </a:r>
            <a:r>
              <a:rPr lang="ar-SA" sz="3600" dirty="0" smtClean="0"/>
              <a:t>نفس الكلمة (فرعون، مرية)</a:t>
            </a:r>
          </a:p>
          <a:p>
            <a:pPr marL="0" indent="0">
              <a:buNone/>
            </a:pPr>
            <a:r>
              <a:rPr lang="ar-SA" sz="3600" dirty="0" smtClean="0"/>
              <a:t>3. الساكنة في آخر الكلمة مسبوقة بكسر موقوف عليها أو موصولة (فأنذِرْ ورَبك فكبر، منتشِر، أنذرْ قومك)</a:t>
            </a:r>
          </a:p>
          <a:p>
            <a:pPr marL="0" indent="0">
              <a:buNone/>
            </a:pPr>
            <a:r>
              <a:rPr lang="ar-SA" sz="3600" dirty="0" smtClean="0"/>
              <a:t>4. الساكنة سكوناً عارضاً مسبوقة بساكن غير مستعل مسبوق بكسر ( السِّحْر)</a:t>
            </a:r>
          </a:p>
          <a:p>
            <a:pPr marL="0" indent="0">
              <a:buNone/>
            </a:pPr>
            <a:r>
              <a:rPr lang="ar-SA" sz="3600" dirty="0" smtClean="0"/>
              <a:t>5. الساكنة المسبوقة بياء ساكنة (خبير، الطير)</a:t>
            </a:r>
          </a:p>
          <a:p>
            <a:pPr marL="0" indent="0">
              <a:buNone/>
            </a:pPr>
            <a:r>
              <a:rPr lang="ar-SA" sz="3600" dirty="0"/>
              <a:t>6</a:t>
            </a:r>
            <a:r>
              <a:rPr lang="ar-SA" sz="3600" dirty="0" smtClean="0"/>
              <a:t>. المكسورة الموقوف عليها بالروم (والعصرِ)</a:t>
            </a:r>
            <a:endParaRPr lang="ar-SA" sz="3600" dirty="0"/>
          </a:p>
        </p:txBody>
      </p:sp>
    </p:spTree>
    <p:extLst>
      <p:ext uri="{BB962C8B-B14F-4D97-AF65-F5344CB8AC3E}">
        <p14:creationId xmlns:p14="http://schemas.microsoft.com/office/powerpoint/2010/main" val="1603135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ar-SA" sz="3600" dirty="0" smtClean="0"/>
              <a:t>7ـ الراء </a:t>
            </a:r>
            <a:r>
              <a:rPr lang="ar-SA" sz="3600" dirty="0" err="1" smtClean="0"/>
              <a:t>الممالة</a:t>
            </a:r>
            <a:r>
              <a:rPr lang="ar-SA" sz="3600" dirty="0" smtClean="0"/>
              <a:t> (بسم الله مجرـ</a:t>
            </a:r>
            <a:r>
              <a:rPr lang="ar-SA" sz="3600" baseline="30000" dirty="0" smtClean="0"/>
              <a:t>ا</a:t>
            </a:r>
            <a:r>
              <a:rPr lang="ar-SA" sz="3600" dirty="0" smtClean="0"/>
              <a:t>ـها ومرساها)</a:t>
            </a:r>
          </a:p>
          <a:p>
            <a:pPr marL="0" indent="0">
              <a:buNone/>
            </a:pPr>
            <a:r>
              <a:rPr lang="ar-SA" sz="3600" b="1" dirty="0" smtClean="0"/>
              <a:t>الحالة الثالثة: جواز الوجهين:</a:t>
            </a:r>
          </a:p>
          <a:p>
            <a:pPr marL="0" indent="0">
              <a:buNone/>
            </a:pPr>
            <a:r>
              <a:rPr lang="ar-SA" sz="3600" dirty="0" smtClean="0"/>
              <a:t>1. الساكنة لأجل الوقف قبلها ساكن مستعل قبله كسر (مِصْرْ، القِطْرْ)</a:t>
            </a:r>
          </a:p>
          <a:p>
            <a:pPr marL="0" indent="0">
              <a:buNone/>
            </a:pPr>
            <a:r>
              <a:rPr lang="ar-SA" sz="3600" dirty="0" smtClean="0"/>
              <a:t>ـ مَن فخّم نظر إلى حالتها في الوصل، حيث تكون مفتوحة، ووجود حرف الاستعلاء حال بين الراء والكسرة، فمنع تأثيرها على الراء.</a:t>
            </a:r>
          </a:p>
          <a:p>
            <a:pPr marL="0" indent="0">
              <a:buNone/>
            </a:pPr>
            <a:r>
              <a:rPr lang="ar-SA" sz="3600" dirty="0" smtClean="0"/>
              <a:t>ـ ومن نظر للترقيق اعتد بالعارض (السكون)، وأن الكسرة موجبة لترقيها.</a:t>
            </a:r>
          </a:p>
          <a:p>
            <a:pPr marL="0" indent="0">
              <a:buNone/>
            </a:pPr>
            <a:r>
              <a:rPr lang="ar-SA" sz="3600" dirty="0" smtClean="0"/>
              <a:t>تختلف مصر عن (مصراً).</a:t>
            </a:r>
          </a:p>
        </p:txBody>
      </p:sp>
    </p:spTree>
    <p:extLst>
      <p:ext uri="{BB962C8B-B14F-4D97-AF65-F5344CB8AC3E}">
        <p14:creationId xmlns:p14="http://schemas.microsoft.com/office/powerpoint/2010/main" val="1603135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ar-SA" sz="3600" dirty="0" smtClean="0"/>
              <a:t>2. الساكنة في وسط الكلمة مسبوقة بكسر أصلي، وبعدها حرف استعلاء مكسور في نفس الكلمة (فرقٍ).</a:t>
            </a:r>
          </a:p>
          <a:p>
            <a:pPr marL="0" indent="0">
              <a:buNone/>
            </a:pPr>
            <a:r>
              <a:rPr lang="ar-SA" sz="3600" dirty="0" smtClean="0"/>
              <a:t>ـ من رققها نظر إلى أن حرف الاستعلاء بعدها مكسور، وأنها وقعت بين كسرتين.</a:t>
            </a:r>
          </a:p>
          <a:p>
            <a:pPr marL="0" indent="0">
              <a:buNone/>
            </a:pPr>
            <a:r>
              <a:rPr lang="ar-SA" sz="3600" dirty="0" smtClean="0"/>
              <a:t>ومن فخمها نظر إلى حرف الاستعلاء بعدها في نفس الكلمة، ولم ينظر إلى أنه مكسور.</a:t>
            </a:r>
          </a:p>
          <a:p>
            <a:pPr marL="0" indent="0">
              <a:buNone/>
            </a:pPr>
            <a:r>
              <a:rPr lang="ar-SA" sz="3600" dirty="0" smtClean="0"/>
              <a:t>ـ عند الوقف: مَن فخمها وصلاً فخمها وقفاً، ومن رققها وصلاً جاز عنده تفخيمها وقفاً اعتداداً بالسكون أو ترقيقها نظراً للأصل. أي أنها أصبحت على ثلاثة آراء:</a:t>
            </a:r>
          </a:p>
          <a:p>
            <a:pPr marL="0" indent="0">
              <a:buNone/>
            </a:pPr>
            <a:r>
              <a:rPr lang="ar-SA" sz="3600" dirty="0" smtClean="0"/>
              <a:t>فريق قال بتفخيمها وصلاً ووقفاً، وآخرون قالوا بترقيقها وصلا ووقفاً، والثالث قال بتفخيمها وقفاً وترقيقها وصلاً.</a:t>
            </a:r>
            <a:endParaRPr lang="ar-SA" sz="3600" dirty="0"/>
          </a:p>
        </p:txBody>
      </p:sp>
    </p:spTree>
    <p:extLst>
      <p:ext uri="{BB962C8B-B14F-4D97-AF65-F5344CB8AC3E}">
        <p14:creationId xmlns:p14="http://schemas.microsoft.com/office/powerpoint/2010/main" val="1603135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r-SA" sz="3600" dirty="0" smtClean="0"/>
              <a:t>3. الساكنة لأجل الوقف بعدها ياء محذوفة تخفيفاً أو بناءً</a:t>
            </a:r>
          </a:p>
          <a:p>
            <a:pPr marL="0" indent="0">
              <a:buNone/>
            </a:pPr>
            <a:r>
              <a:rPr lang="ar-SA" sz="3600" dirty="0" smtClean="0"/>
              <a:t>ـ المحذوفة تخفيفاً (نُذُر، يسر).</a:t>
            </a:r>
          </a:p>
          <a:p>
            <a:pPr marL="0" indent="0">
              <a:buNone/>
            </a:pPr>
            <a:r>
              <a:rPr lang="ar-SA" sz="3600" dirty="0" smtClean="0"/>
              <a:t>ـ المحذوفة بناءً (أسر).</a:t>
            </a:r>
          </a:p>
          <a:p>
            <a:pPr marL="0" indent="0">
              <a:buNone/>
            </a:pPr>
            <a:r>
              <a:rPr lang="ar-SA" sz="3600" dirty="0" smtClean="0"/>
              <a:t>مَن رققها نظر إلى الأصل وهي الياء المحذوفة، وأنها حال الوصل مرققة.</a:t>
            </a:r>
          </a:p>
          <a:p>
            <a:pPr marL="0" indent="0">
              <a:buNone/>
            </a:pPr>
            <a:r>
              <a:rPr lang="ar-SA" sz="3600" dirty="0" smtClean="0"/>
              <a:t>ومن فخمها نظر إلى أنها انطبقت عليها شروط التفخيم.</a:t>
            </a:r>
          </a:p>
          <a:p>
            <a:pPr marL="0" indent="0">
              <a:buNone/>
            </a:pPr>
            <a:r>
              <a:rPr lang="ar-SA" sz="3600" dirty="0" smtClean="0"/>
              <a:t>ـ الترقيق في جميع الحالات أولى عدا (مصر) فالتفخيم فيها أولى. </a:t>
            </a:r>
            <a:endParaRPr lang="ar-SA" sz="3600" dirty="0"/>
          </a:p>
        </p:txBody>
      </p:sp>
    </p:spTree>
    <p:extLst>
      <p:ext uri="{BB962C8B-B14F-4D97-AF65-F5344CB8AC3E}">
        <p14:creationId xmlns:p14="http://schemas.microsoft.com/office/powerpoint/2010/main" val="1603135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539552" y="2276872"/>
            <a:ext cx="8229600" cy="12241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ar-SA" sz="3600" b="1" dirty="0" smtClean="0">
                <a:solidFill>
                  <a:srgbClr val="C00000"/>
                </a:solidFill>
              </a:rPr>
              <a:t>المتماثلان والمتقاربان والمتجانسان والمتباعدان </a:t>
            </a:r>
            <a:endParaRPr lang="ar-SA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3135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ar-SA" sz="3600" b="1" dirty="0" smtClean="0"/>
              <a:t>أولاً: الحرفان المتماثلان:</a:t>
            </a:r>
          </a:p>
          <a:p>
            <a:pPr marL="0" indent="0">
              <a:buNone/>
            </a:pPr>
            <a:r>
              <a:rPr lang="ar-SA" sz="3600" dirty="0" smtClean="0"/>
              <a:t>هما الحرفان اللذان اتحدا اسماً ورسماً ومخرجاً وصفة.</a:t>
            </a:r>
          </a:p>
          <a:p>
            <a:pPr marL="0" indent="0">
              <a:buNone/>
            </a:pPr>
            <a:r>
              <a:rPr lang="ar-SA" sz="3600" dirty="0" smtClean="0"/>
              <a:t>ـ وهو صغير وكبير ومطلق.</a:t>
            </a:r>
          </a:p>
          <a:p>
            <a:pPr marL="0" indent="0">
              <a:buNone/>
            </a:pPr>
            <a:r>
              <a:rPr lang="ar-SA" sz="3600" dirty="0" smtClean="0"/>
              <a:t>1. الصغير: </a:t>
            </a:r>
          </a:p>
          <a:p>
            <a:pPr marL="0" indent="0">
              <a:buNone/>
            </a:pPr>
            <a:r>
              <a:rPr lang="ar-SA" sz="3600" dirty="0" smtClean="0"/>
              <a:t>أن يكون الأول ساكناً والثاني متحركاً (اذهب بكتابي).</a:t>
            </a:r>
          </a:p>
          <a:p>
            <a:pPr marL="0" indent="0">
              <a:buNone/>
            </a:pPr>
            <a:r>
              <a:rPr lang="ar-SA" sz="3600" dirty="0" smtClean="0"/>
              <a:t>ـ حكمه: وجوب الإدغام إلا في حالة واحدة (ماليه هلك)</a:t>
            </a:r>
          </a:p>
          <a:p>
            <a:pPr marL="0" indent="0">
              <a:buNone/>
            </a:pPr>
            <a:r>
              <a:rPr lang="ar-SA" sz="3600" dirty="0" smtClean="0"/>
              <a:t>ـ واو المد التي يليها واو متحركة، والياء كذلك عند الشاطبي متماثلان حكمهما الإظهار لئلا يذهب المد (اصبروا وصابروا) (الذي يوسوس).</a:t>
            </a:r>
          </a:p>
        </p:txBody>
      </p:sp>
    </p:spTree>
    <p:extLst>
      <p:ext uri="{BB962C8B-B14F-4D97-AF65-F5344CB8AC3E}">
        <p14:creationId xmlns:p14="http://schemas.microsoft.com/office/powerpoint/2010/main" val="1603135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ar-SA" sz="3600" dirty="0"/>
              <a:t>ـ واو اللين تدغم في الواو (عصَوْا وكانوا).</a:t>
            </a:r>
          </a:p>
          <a:p>
            <a:pPr marL="0" indent="0">
              <a:buNone/>
            </a:pPr>
            <a:r>
              <a:rPr lang="ar-SA" sz="3600" dirty="0" smtClean="0"/>
              <a:t>ـ من الصغير ما يكون بغنة (لن نؤمن لك).</a:t>
            </a:r>
          </a:p>
          <a:p>
            <a:pPr marL="0" indent="0">
              <a:buNone/>
            </a:pPr>
            <a:r>
              <a:rPr lang="ar-SA" sz="3600" dirty="0" smtClean="0"/>
              <a:t>2. الكبير: </a:t>
            </a:r>
          </a:p>
          <a:p>
            <a:pPr marL="0" indent="0">
              <a:buNone/>
            </a:pPr>
            <a:r>
              <a:rPr lang="ar-SA" sz="3600" dirty="0" smtClean="0"/>
              <a:t>أن يكونا متحركين (الرحمن الرحيم ملك يوم الدين).</a:t>
            </a:r>
          </a:p>
          <a:p>
            <a:pPr marL="0" indent="0">
              <a:buNone/>
            </a:pPr>
            <a:r>
              <a:rPr lang="ar-SA" sz="3600" dirty="0" smtClean="0"/>
              <a:t>سمي كبيراً لأنه يحتاج إلى خطوتين: تسكين الأول، وإدغامه في الثاني.</a:t>
            </a:r>
          </a:p>
          <a:p>
            <a:pPr marL="0" indent="0">
              <a:buNone/>
            </a:pPr>
            <a:r>
              <a:rPr lang="ar-SA" sz="3600" dirty="0" smtClean="0"/>
              <a:t>حكمه</a:t>
            </a:r>
            <a:r>
              <a:rPr lang="ar-SA" sz="3600" smtClean="0"/>
              <a:t>:  الإظهار عند </a:t>
            </a:r>
            <a:r>
              <a:rPr lang="ar-SA" sz="3600" dirty="0" smtClean="0"/>
              <a:t>حفص إلا في مواضع يسيرة، منها:</a:t>
            </a:r>
          </a:p>
          <a:p>
            <a:pPr marL="0" indent="0">
              <a:buNone/>
            </a:pPr>
            <a:r>
              <a:rPr lang="ar-SA" sz="3600" dirty="0" smtClean="0"/>
              <a:t>ـ (تأمنا): ففيها الإظهار مع الروم، والإدغام مع الإشمام.</a:t>
            </a:r>
          </a:p>
          <a:p>
            <a:pPr marL="0" indent="0">
              <a:buNone/>
            </a:pPr>
            <a:r>
              <a:rPr lang="ar-SA" sz="3600" dirty="0" smtClean="0"/>
              <a:t>ـ (مكنّي): فيها الإدغام فقط.</a:t>
            </a:r>
          </a:p>
        </p:txBody>
      </p:sp>
    </p:spTree>
    <p:extLst>
      <p:ext uri="{BB962C8B-B14F-4D97-AF65-F5344CB8AC3E}">
        <p14:creationId xmlns:p14="http://schemas.microsoft.com/office/powerpoint/2010/main" val="1603135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r-SA" sz="3600" dirty="0"/>
              <a:t>3. المطلق: الأول متحرك والثاني ساكن (تَتْرا).</a:t>
            </a:r>
          </a:p>
          <a:p>
            <a:pPr marL="0" indent="0">
              <a:buNone/>
            </a:pPr>
            <a:r>
              <a:rPr lang="ar-SA" sz="3600" dirty="0"/>
              <a:t>ـ سمي مطلقاً لعدم تقيده بصغير ولا كبير.</a:t>
            </a:r>
          </a:p>
          <a:p>
            <a:pPr marL="0" indent="0">
              <a:buNone/>
            </a:pPr>
            <a:r>
              <a:rPr lang="ar-SA" sz="3600" b="1" dirty="0" smtClean="0"/>
              <a:t>ثانياً: الحرفان المتقاربان:</a:t>
            </a:r>
          </a:p>
          <a:p>
            <a:pPr marL="0" indent="0">
              <a:buNone/>
            </a:pPr>
            <a:r>
              <a:rPr lang="ar-SA" sz="3600" dirty="0" smtClean="0"/>
              <a:t>هما الحرفان اللذان تقاربا مخرجاً وصفة أو مخرجاً لا صفة أو صفة لا مخرجاً.</a:t>
            </a:r>
          </a:p>
          <a:p>
            <a:pPr marL="0" indent="0">
              <a:buNone/>
            </a:pPr>
            <a:r>
              <a:rPr lang="ar-SA" sz="3600" dirty="0" smtClean="0"/>
              <a:t>ـ مخرجاً وصفة مثل (وقل رب).</a:t>
            </a:r>
          </a:p>
          <a:p>
            <a:pPr marL="0" indent="0">
              <a:buNone/>
            </a:pPr>
            <a:r>
              <a:rPr lang="ar-SA" sz="3600" dirty="0" smtClean="0"/>
              <a:t>ـ مخرجاً لا صفة مثل (قد سمع).</a:t>
            </a:r>
          </a:p>
          <a:p>
            <a:pPr marL="0" indent="0">
              <a:buNone/>
            </a:pPr>
            <a:r>
              <a:rPr lang="ar-SA" sz="3600" dirty="0" smtClean="0"/>
              <a:t>ـ صفة لا مخرجاً مثل (إذ جاءوكم).</a:t>
            </a:r>
            <a:endParaRPr lang="ar-SA" sz="3600" dirty="0"/>
          </a:p>
        </p:txBody>
      </p:sp>
    </p:spTree>
    <p:extLst>
      <p:ext uri="{BB962C8B-B14F-4D97-AF65-F5344CB8AC3E}">
        <p14:creationId xmlns:p14="http://schemas.microsoft.com/office/powerpoint/2010/main" val="1603135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ar-SA" sz="3600" dirty="0" smtClean="0"/>
              <a:t>أقسامه: صغير وكبير ومطلق.</a:t>
            </a:r>
          </a:p>
          <a:p>
            <a:pPr marL="0" indent="0">
              <a:buNone/>
            </a:pPr>
            <a:r>
              <a:rPr lang="ar-SA" sz="3600" dirty="0" smtClean="0"/>
              <a:t>1. صغير: الأول ساكن والثاني متحرك.</a:t>
            </a:r>
          </a:p>
          <a:p>
            <a:pPr marL="0" indent="0">
              <a:buNone/>
            </a:pPr>
            <a:r>
              <a:rPr lang="ar-SA" sz="3600" dirty="0" smtClean="0"/>
              <a:t>حكمه: الإظهار إلا في أحرف مخصوصة:</a:t>
            </a:r>
          </a:p>
          <a:p>
            <a:pPr marL="0" indent="0">
              <a:buNone/>
            </a:pPr>
            <a:r>
              <a:rPr lang="ar-SA" sz="3600" dirty="0" smtClean="0"/>
              <a:t>* </a:t>
            </a:r>
            <a:r>
              <a:rPr lang="ar-SA" sz="3600" dirty="0" err="1" smtClean="0"/>
              <a:t>ل+ر</a:t>
            </a:r>
            <a:r>
              <a:rPr lang="ar-SA" sz="3600" dirty="0" smtClean="0"/>
              <a:t>: (وقل رب)، يستثنى (بل ران).</a:t>
            </a:r>
          </a:p>
          <a:p>
            <a:pPr marL="0" indent="0">
              <a:buNone/>
            </a:pPr>
            <a:r>
              <a:rPr lang="ar-SA" sz="3600" dirty="0" smtClean="0"/>
              <a:t>* </a:t>
            </a:r>
            <a:r>
              <a:rPr lang="ar-SA" sz="3600" dirty="0" err="1" smtClean="0"/>
              <a:t>ق+ك</a:t>
            </a:r>
            <a:r>
              <a:rPr lang="ar-SA" sz="3600" dirty="0" smtClean="0"/>
              <a:t>: (نخلقكم) بالإدغام الكامل (الأشهر)، والناقص.</a:t>
            </a:r>
          </a:p>
          <a:p>
            <a:pPr marL="0" indent="0">
              <a:buNone/>
            </a:pPr>
            <a:r>
              <a:rPr lang="ar-SA" sz="3600" dirty="0" smtClean="0"/>
              <a:t>* ن+ ي و ل ر: (من رباط) يستثنى (من راق).</a:t>
            </a:r>
          </a:p>
          <a:p>
            <a:pPr marL="0" indent="0">
              <a:buNone/>
            </a:pPr>
            <a:r>
              <a:rPr lang="ar-SA" sz="3600" dirty="0" smtClean="0"/>
              <a:t>* </a:t>
            </a:r>
            <a:r>
              <a:rPr lang="ar-SA" sz="3600" dirty="0" err="1" smtClean="0"/>
              <a:t>ل+الحروف</a:t>
            </a:r>
            <a:r>
              <a:rPr lang="ar-SA" sz="3600" dirty="0" smtClean="0"/>
              <a:t> الشمسية عدا (ل): (الشمس، الضحى).</a:t>
            </a:r>
          </a:p>
          <a:p>
            <a:pPr marL="0" indent="0">
              <a:buNone/>
            </a:pPr>
            <a:r>
              <a:rPr lang="ar-SA" sz="3600" dirty="0" smtClean="0"/>
              <a:t> 2. كبير: كلاهما متحرك (خلقَكُم).</a:t>
            </a:r>
          </a:p>
          <a:p>
            <a:pPr marL="0" indent="0">
              <a:buNone/>
            </a:pPr>
            <a:r>
              <a:rPr lang="ar-SA" sz="3600" dirty="0" smtClean="0"/>
              <a:t>حكمه: عند حفص الإظهار.</a:t>
            </a:r>
            <a:endParaRPr lang="ar-SA" sz="3600" dirty="0"/>
          </a:p>
        </p:txBody>
      </p:sp>
    </p:spTree>
    <p:extLst>
      <p:ext uri="{BB962C8B-B14F-4D97-AF65-F5344CB8AC3E}">
        <p14:creationId xmlns:p14="http://schemas.microsoft.com/office/powerpoint/2010/main" val="1603135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ar-SA" sz="3600" dirty="0" smtClean="0"/>
              <a:t>3. المطلق: الأول متحرك والثاني ساكن (الإظهار).</a:t>
            </a:r>
          </a:p>
          <a:p>
            <a:pPr marL="0" indent="0">
              <a:buNone/>
            </a:pPr>
            <a:r>
              <a:rPr lang="ar-SA" sz="3600" b="1" dirty="0" smtClean="0"/>
              <a:t>ثالثاً: الحرفان المتجانسان:</a:t>
            </a:r>
          </a:p>
          <a:p>
            <a:pPr marL="0" indent="0">
              <a:buNone/>
            </a:pPr>
            <a:r>
              <a:rPr lang="ar-SA" sz="3600" dirty="0" smtClean="0"/>
              <a:t>هما الحرفان اللذان اتحدا مخرجاً واختلفا صفة.</a:t>
            </a:r>
          </a:p>
          <a:p>
            <a:pPr marL="0" indent="0">
              <a:buNone/>
            </a:pPr>
            <a:r>
              <a:rPr lang="ar-SA" sz="3600" dirty="0" smtClean="0"/>
              <a:t>1. الصغير: الأول ساكن والثاني متحرك.</a:t>
            </a:r>
          </a:p>
          <a:p>
            <a:pPr marL="0" indent="0">
              <a:buNone/>
            </a:pPr>
            <a:r>
              <a:rPr lang="ar-SA" sz="3600" dirty="0" smtClean="0"/>
              <a:t>حكمه: الإظهار إلا في أحرف مخصوصة:</a:t>
            </a:r>
          </a:p>
          <a:p>
            <a:pPr marL="0" indent="0">
              <a:buNone/>
            </a:pPr>
            <a:r>
              <a:rPr lang="ar-SA" sz="3600" dirty="0" smtClean="0"/>
              <a:t>* </a:t>
            </a:r>
            <a:r>
              <a:rPr lang="ar-SA" sz="3600" dirty="0" err="1" smtClean="0"/>
              <a:t>ت+ط</a:t>
            </a:r>
            <a:r>
              <a:rPr lang="ar-SA" sz="3600" dirty="0" smtClean="0"/>
              <a:t>: (فآمنت طائفة). (كامل)</a:t>
            </a:r>
          </a:p>
          <a:p>
            <a:pPr marL="0" indent="0">
              <a:buNone/>
            </a:pPr>
            <a:r>
              <a:rPr lang="ar-SA" sz="3600" dirty="0" smtClean="0"/>
              <a:t>* </a:t>
            </a:r>
            <a:r>
              <a:rPr lang="ar-SA" sz="3600" dirty="0" err="1" smtClean="0"/>
              <a:t>ت+د</a:t>
            </a:r>
            <a:r>
              <a:rPr lang="ar-SA" sz="3600" dirty="0" smtClean="0"/>
              <a:t>: (فلما أثقلت دعوا الله). (كامل)</a:t>
            </a:r>
          </a:p>
          <a:p>
            <a:pPr marL="0" indent="0">
              <a:buNone/>
            </a:pPr>
            <a:r>
              <a:rPr lang="ar-SA" sz="3600" dirty="0" smtClean="0"/>
              <a:t>*</a:t>
            </a:r>
            <a:r>
              <a:rPr lang="ar-SA" sz="3600" dirty="0" err="1" smtClean="0"/>
              <a:t>د+ت</a:t>
            </a:r>
            <a:r>
              <a:rPr lang="ar-SA" sz="3600" dirty="0" smtClean="0"/>
              <a:t>: (قد تبين). (كامل)</a:t>
            </a:r>
          </a:p>
          <a:p>
            <a:pPr marL="0" indent="0">
              <a:buNone/>
            </a:pPr>
            <a:r>
              <a:rPr lang="ar-SA" sz="3600" dirty="0" smtClean="0"/>
              <a:t>* </a:t>
            </a:r>
            <a:r>
              <a:rPr lang="ar-SA" sz="3600" dirty="0" err="1" smtClean="0"/>
              <a:t>ط+ت</a:t>
            </a:r>
            <a:r>
              <a:rPr lang="ar-SA" sz="3600" dirty="0" smtClean="0"/>
              <a:t>: (أحطت). (ناقص)</a:t>
            </a:r>
            <a:endParaRPr lang="ar-SA" sz="3600" dirty="0"/>
          </a:p>
        </p:txBody>
      </p:sp>
    </p:spTree>
    <p:extLst>
      <p:ext uri="{BB962C8B-B14F-4D97-AF65-F5344CB8AC3E}">
        <p14:creationId xmlns:p14="http://schemas.microsoft.com/office/powerpoint/2010/main" val="1603135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ar-SA" sz="3600" dirty="0" smtClean="0"/>
              <a:t>* </a:t>
            </a:r>
            <a:r>
              <a:rPr lang="ar-SA" sz="3600" dirty="0" err="1" smtClean="0"/>
              <a:t>ذ+ظ</a:t>
            </a:r>
            <a:r>
              <a:rPr lang="ar-SA" sz="3600" dirty="0" smtClean="0"/>
              <a:t>: في موضعين (إذ ظلموا). (كامل)</a:t>
            </a:r>
          </a:p>
          <a:p>
            <a:pPr marL="0" indent="0">
              <a:buNone/>
            </a:pPr>
            <a:r>
              <a:rPr lang="ar-SA" sz="3600" dirty="0" smtClean="0"/>
              <a:t>* </a:t>
            </a:r>
            <a:r>
              <a:rPr lang="ar-SA" sz="3600" dirty="0" err="1" smtClean="0"/>
              <a:t>ث+ذ</a:t>
            </a:r>
            <a:r>
              <a:rPr lang="ar-SA" sz="3600" dirty="0" smtClean="0"/>
              <a:t>: موضع فقط (يلهث ذلك). (كامل)</a:t>
            </a:r>
          </a:p>
          <a:p>
            <a:pPr marL="0" indent="0">
              <a:buNone/>
            </a:pPr>
            <a:r>
              <a:rPr lang="ar-SA" sz="3600" dirty="0" smtClean="0"/>
              <a:t>* </a:t>
            </a:r>
            <a:r>
              <a:rPr lang="ar-SA" sz="3600" dirty="0" err="1" smtClean="0"/>
              <a:t>ب+م</a:t>
            </a:r>
            <a:r>
              <a:rPr lang="ar-SA" sz="3600" dirty="0" smtClean="0"/>
              <a:t>: موضع فقط (اركب معنا). (كامل بغنة)</a:t>
            </a:r>
          </a:p>
          <a:p>
            <a:pPr marL="0" indent="0">
              <a:buNone/>
            </a:pPr>
            <a:r>
              <a:rPr lang="ar-SA" sz="3600" dirty="0" smtClean="0"/>
              <a:t>ـ عدّ بعض العلماء (النون في الميم) متجانسين؛ اتحدا صفة واخلفا مخرجاً.</a:t>
            </a:r>
          </a:p>
          <a:p>
            <a:pPr marL="0" indent="0">
              <a:buNone/>
            </a:pPr>
            <a:r>
              <a:rPr lang="ar-SA" sz="3600" dirty="0" smtClean="0"/>
              <a:t>2. كبير: كلاهما متحرك (الصالحات طوبى)</a:t>
            </a:r>
          </a:p>
          <a:p>
            <a:pPr marL="0" indent="0">
              <a:buNone/>
            </a:pPr>
            <a:r>
              <a:rPr lang="ar-SA" sz="3600" dirty="0" smtClean="0"/>
              <a:t>حكمه: الإظهار عند حفص.</a:t>
            </a:r>
          </a:p>
          <a:p>
            <a:pPr marL="0" indent="0">
              <a:buNone/>
            </a:pPr>
            <a:r>
              <a:rPr lang="ar-SA" sz="3600" dirty="0" smtClean="0"/>
              <a:t>3. المطلق: متحرك فساكن (أفتطمعون).</a:t>
            </a:r>
          </a:p>
          <a:p>
            <a:pPr marL="0" indent="0">
              <a:buNone/>
            </a:pPr>
            <a:r>
              <a:rPr lang="ar-SA" sz="3600" dirty="0" smtClean="0"/>
              <a:t>حكمه: الإظهار باتفاق.</a:t>
            </a:r>
            <a:endParaRPr lang="ar-SA" sz="3600" dirty="0"/>
          </a:p>
        </p:txBody>
      </p:sp>
    </p:spTree>
    <p:extLst>
      <p:ext uri="{BB962C8B-B14F-4D97-AF65-F5344CB8AC3E}">
        <p14:creationId xmlns:p14="http://schemas.microsoft.com/office/powerpoint/2010/main" val="1603135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r-SA" sz="3600" b="1" dirty="0" smtClean="0"/>
              <a:t>رابعاً: الحرفان المتباعدان:</a:t>
            </a:r>
          </a:p>
          <a:p>
            <a:pPr marL="0" indent="0">
              <a:buNone/>
            </a:pPr>
            <a:r>
              <a:rPr lang="ar-SA" sz="3600" dirty="0" smtClean="0"/>
              <a:t>اختلفا مخرجاً وصفة (وعليها وعلى الفلك تُحْملون).</a:t>
            </a:r>
          </a:p>
          <a:p>
            <a:pPr marL="0" indent="0">
              <a:buNone/>
            </a:pPr>
            <a:r>
              <a:rPr lang="ar-SA" sz="3600" dirty="0" smtClean="0"/>
              <a:t>ـ هذا القسم ذُكر تتميماً للأقسام الثلاثة.</a:t>
            </a:r>
          </a:p>
          <a:p>
            <a:pPr marL="0" indent="0">
              <a:buNone/>
            </a:pPr>
            <a:endParaRPr lang="ar-SA" sz="3600" dirty="0"/>
          </a:p>
        </p:txBody>
      </p:sp>
    </p:spTree>
    <p:extLst>
      <p:ext uri="{BB962C8B-B14F-4D97-AF65-F5344CB8AC3E}">
        <p14:creationId xmlns:p14="http://schemas.microsoft.com/office/powerpoint/2010/main" val="1603135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2060849"/>
            <a:ext cx="8229600" cy="10081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ar-SA" sz="4400" b="1" dirty="0" smtClean="0">
                <a:solidFill>
                  <a:srgbClr val="C00000"/>
                </a:solidFill>
              </a:rPr>
              <a:t>أحكام </a:t>
            </a:r>
            <a:r>
              <a:rPr lang="ar-SA" sz="4400" b="1" dirty="0" err="1" smtClean="0">
                <a:solidFill>
                  <a:srgbClr val="C00000"/>
                </a:solidFill>
              </a:rPr>
              <a:t>اللامات</a:t>
            </a:r>
            <a:r>
              <a:rPr lang="ar-SA" sz="4400" b="1" dirty="0" smtClean="0">
                <a:solidFill>
                  <a:srgbClr val="C00000"/>
                </a:solidFill>
              </a:rPr>
              <a:t> السواكن</a:t>
            </a:r>
            <a:endParaRPr lang="ar-SA" sz="4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3135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515813"/>
            <a:ext cx="8229600" cy="56494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ar-SA" sz="3600" dirty="0" smtClean="0"/>
              <a:t>ـ </a:t>
            </a:r>
            <a:r>
              <a:rPr lang="ar-SA" sz="3600" dirty="0" err="1" smtClean="0"/>
              <a:t>اللامات</a:t>
            </a:r>
            <a:r>
              <a:rPr lang="ar-SA" sz="3600" dirty="0" smtClean="0"/>
              <a:t> السواكن في القرآن الكريم خمسة: </a:t>
            </a:r>
          </a:p>
          <a:p>
            <a:pPr marL="0" indent="0">
              <a:buNone/>
            </a:pPr>
            <a:r>
              <a:rPr lang="ar-SA" sz="3600" dirty="0" smtClean="0"/>
              <a:t>لام التعريف ـ لام الفعل ـ لام الأمر ـ لام الاسم ـ ولام الحرف.</a:t>
            </a:r>
          </a:p>
          <a:p>
            <a:pPr marL="0" indent="0">
              <a:buNone/>
            </a:pPr>
            <a:r>
              <a:rPr lang="ar-SA" sz="3600" b="1" dirty="0" smtClean="0"/>
              <a:t>أولا: لام التعريف:</a:t>
            </a:r>
          </a:p>
          <a:p>
            <a:pPr marL="0" indent="0">
              <a:buNone/>
            </a:pPr>
            <a:r>
              <a:rPr lang="ar-SA" sz="3600" dirty="0" smtClean="0"/>
              <a:t>لام ساكنة زائدة مسبوقة بهمزة وصل مفتوحة عند الابتداء بها، وبعدها اسم سواء صح تجريدها أو لم يصح.</a:t>
            </a:r>
          </a:p>
          <a:p>
            <a:pPr marL="0" indent="0">
              <a:buNone/>
            </a:pPr>
            <a:r>
              <a:rPr lang="ar-SA" sz="3600" dirty="0" smtClean="0"/>
              <a:t>والتي يصح تجريدها مثل: (الشمس، الضحى)</a:t>
            </a:r>
          </a:p>
          <a:p>
            <a:pPr marL="0" indent="0">
              <a:buNone/>
            </a:pPr>
            <a:r>
              <a:rPr lang="ar-SA" sz="3600" dirty="0" smtClean="0"/>
              <a:t>والتي لم يصح تجريدها مثل: (الذي والتي).</a:t>
            </a:r>
          </a:p>
          <a:p>
            <a:pPr marL="0" indent="0">
              <a:buNone/>
            </a:pPr>
            <a:r>
              <a:rPr lang="ar-SA" sz="3600" dirty="0" smtClean="0"/>
              <a:t>ـ تأتي لام التعريف قبل كل حرف إلا حروف المد.</a:t>
            </a:r>
          </a:p>
        </p:txBody>
      </p:sp>
    </p:spTree>
    <p:extLst>
      <p:ext uri="{BB962C8B-B14F-4D97-AF65-F5344CB8AC3E}">
        <p14:creationId xmlns:p14="http://schemas.microsoft.com/office/powerpoint/2010/main" val="1603135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r-SA" sz="3600" dirty="0" smtClean="0"/>
              <a:t>*</a:t>
            </a:r>
            <a:r>
              <a:rPr lang="ar-SA" sz="3600" b="1" dirty="0" smtClean="0"/>
              <a:t> حالاتها:</a:t>
            </a:r>
          </a:p>
          <a:p>
            <a:pPr marL="0" indent="0">
              <a:buNone/>
            </a:pPr>
            <a:r>
              <a:rPr lang="ar-SA" sz="3600" dirty="0" smtClean="0">
                <a:solidFill>
                  <a:srgbClr val="0070C0"/>
                </a:solidFill>
              </a:rPr>
              <a:t>الحالة الأولى: الإظهار:</a:t>
            </a:r>
          </a:p>
          <a:p>
            <a:pPr marL="0" indent="0">
              <a:buNone/>
            </a:pPr>
            <a:r>
              <a:rPr lang="ar-SA" sz="3600" dirty="0" smtClean="0"/>
              <a:t>تُظهَر بعد 14 حرفاً (</a:t>
            </a:r>
            <a:r>
              <a:rPr lang="ar-SA" sz="3600" dirty="0" err="1" smtClean="0"/>
              <a:t>إبغ</a:t>
            </a:r>
            <a:r>
              <a:rPr lang="ar-SA" sz="3600" dirty="0" smtClean="0"/>
              <a:t> حجك وخف عقيمه).</a:t>
            </a:r>
          </a:p>
          <a:p>
            <a:pPr marL="0" indent="0">
              <a:buNone/>
            </a:pPr>
            <a:r>
              <a:rPr lang="ar-SA" sz="3600" dirty="0" smtClean="0"/>
              <a:t>ـ سميت قمرية: لظهورها عند النطق بلفظ (القمر) ثم غلب استعمالها على كل اسم يماثله.</a:t>
            </a:r>
            <a:r>
              <a:rPr lang="ar-SA" sz="3600" b="1" dirty="0" smtClean="0"/>
              <a:t> وقيل: </a:t>
            </a:r>
            <a:r>
              <a:rPr lang="ar-SA" sz="3600" dirty="0" smtClean="0"/>
              <a:t>سميت قمرية تشبيها لها بالنجوم، والحروف بالقمر، بجامع ظهور كل منها عند الآخر.</a:t>
            </a:r>
          </a:p>
          <a:p>
            <a:pPr marL="0" indent="0">
              <a:buNone/>
            </a:pPr>
            <a:r>
              <a:rPr lang="ar-SA" sz="3600" dirty="0" smtClean="0"/>
              <a:t>ـ سبب الإظهار: تباعد المخرج.</a:t>
            </a:r>
          </a:p>
          <a:p>
            <a:pPr marL="0" indent="0">
              <a:buNone/>
            </a:pPr>
            <a:endParaRPr lang="ar-SA" sz="3600" dirty="0" smtClean="0"/>
          </a:p>
        </p:txBody>
      </p:sp>
    </p:spTree>
    <p:extLst>
      <p:ext uri="{BB962C8B-B14F-4D97-AF65-F5344CB8AC3E}">
        <p14:creationId xmlns:p14="http://schemas.microsoft.com/office/powerpoint/2010/main" val="1603135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r-SA" sz="3600" dirty="0" smtClean="0">
                <a:solidFill>
                  <a:srgbClr val="0070C0"/>
                </a:solidFill>
              </a:rPr>
              <a:t>الحالة الثانية: الإدغام:</a:t>
            </a:r>
          </a:p>
          <a:p>
            <a:pPr marL="0" indent="0">
              <a:buNone/>
            </a:pPr>
            <a:r>
              <a:rPr lang="ar-SA" sz="3600" dirty="0" smtClean="0"/>
              <a:t>تدغم إذا جاء بعدها 14 حرفا (باقي الحروف).</a:t>
            </a:r>
          </a:p>
          <a:p>
            <a:pPr marL="0" indent="0">
              <a:buNone/>
            </a:pPr>
            <a:r>
              <a:rPr lang="ar-SA" sz="3600" dirty="0" smtClean="0"/>
              <a:t>ـ سميت شمسية: لعدم ظهورها عند النطق بلفظ (الشمس) ثم غلب استعمالها على ما يماثلها. </a:t>
            </a:r>
            <a:r>
              <a:rPr lang="ar-SA" sz="3600" b="1" dirty="0" smtClean="0"/>
              <a:t>وقيل:</a:t>
            </a:r>
            <a:r>
              <a:rPr lang="ar-SA" sz="3600" dirty="0" smtClean="0"/>
              <a:t> تشبيهاً لها بالنجوم، والحروف بالشمس، بجامع خفاء النجوم عند ظهور الشمس.</a:t>
            </a:r>
          </a:p>
          <a:p>
            <a:pPr marL="0" indent="0">
              <a:buNone/>
            </a:pPr>
            <a:r>
              <a:rPr lang="ar-SA" sz="3600" dirty="0" smtClean="0"/>
              <a:t>ـ سبب الإدغام: التماثل في اللام، والتقارب في غيرها.</a:t>
            </a:r>
          </a:p>
          <a:p>
            <a:pPr marL="0" indent="0">
              <a:buNone/>
            </a:pPr>
            <a:r>
              <a:rPr lang="ar-SA" sz="3600" b="1" dirty="0" smtClean="0"/>
              <a:t>تنبيه:</a:t>
            </a:r>
            <a:r>
              <a:rPr lang="ar-SA" sz="3600" dirty="0" smtClean="0"/>
              <a:t> اللام في لفظ الجلالة من </a:t>
            </a:r>
            <a:r>
              <a:rPr lang="ar-SA" sz="3600" dirty="0" err="1" smtClean="0"/>
              <a:t>اللامات</a:t>
            </a:r>
            <a:r>
              <a:rPr lang="ar-SA" sz="3600" dirty="0" smtClean="0"/>
              <a:t> الشمسية </a:t>
            </a:r>
            <a:r>
              <a:rPr lang="ar-SA" sz="3600" smtClean="0"/>
              <a:t>ولا يجوز تجريدها.</a:t>
            </a:r>
            <a:endParaRPr lang="ar-SA" sz="3600" b="1" dirty="0"/>
          </a:p>
        </p:txBody>
      </p:sp>
    </p:spTree>
    <p:extLst>
      <p:ext uri="{BB962C8B-B14F-4D97-AF65-F5344CB8AC3E}">
        <p14:creationId xmlns:p14="http://schemas.microsoft.com/office/powerpoint/2010/main" val="1603135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ar-SA" sz="3600" b="1" dirty="0" smtClean="0"/>
              <a:t>ثانياً: لام الفعل:</a:t>
            </a:r>
          </a:p>
          <a:p>
            <a:pPr marL="0" indent="0">
              <a:buNone/>
            </a:pPr>
            <a:r>
              <a:rPr lang="ar-SA" sz="3600" dirty="0" smtClean="0"/>
              <a:t>هي اللام الساكنة الواقعة في الفعل.</a:t>
            </a:r>
          </a:p>
          <a:p>
            <a:pPr marL="0" indent="0">
              <a:buNone/>
            </a:pPr>
            <a:r>
              <a:rPr lang="ar-SA" sz="3600" dirty="0" smtClean="0"/>
              <a:t>ـ في الماضي مثل (أرسلنا).</a:t>
            </a:r>
          </a:p>
          <a:p>
            <a:pPr marL="0" indent="0">
              <a:buNone/>
            </a:pPr>
            <a:r>
              <a:rPr lang="ar-SA" sz="3600" dirty="0" smtClean="0"/>
              <a:t>ـ في المضارع مثل (ومن يتوكل على الله ـ ألم أقل لكم).</a:t>
            </a:r>
          </a:p>
          <a:p>
            <a:pPr marL="0" indent="0">
              <a:buNone/>
            </a:pPr>
            <a:r>
              <a:rPr lang="ar-SA" sz="3600" dirty="0" smtClean="0"/>
              <a:t>ـ في الأمر مثل (وألق عصاك ـ فاجعل أفئدة).</a:t>
            </a:r>
          </a:p>
          <a:p>
            <a:pPr marL="0" indent="0">
              <a:buNone/>
            </a:pPr>
            <a:r>
              <a:rPr lang="ar-SA" sz="3600" b="1" dirty="0" smtClean="0"/>
              <a:t>حكمها: </a:t>
            </a:r>
            <a:r>
              <a:rPr lang="ar-SA" sz="3600" dirty="0" smtClean="0"/>
              <a:t>الإظهار إلا إذا جاء بعدها لام (قل لكم) أو راء (وقل رب ارحمهما).</a:t>
            </a:r>
          </a:p>
          <a:p>
            <a:pPr marL="0" indent="0">
              <a:buNone/>
            </a:pPr>
            <a:r>
              <a:rPr lang="ar-SA" sz="3600" b="1" dirty="0" smtClean="0"/>
              <a:t>ثالثا: لام الأمر:</a:t>
            </a:r>
          </a:p>
          <a:p>
            <a:pPr marL="0" indent="0">
              <a:buNone/>
            </a:pPr>
            <a:r>
              <a:rPr lang="ar-SA" sz="3600" dirty="0" smtClean="0"/>
              <a:t>لام ساكنة زائدة تدخل على الفعل المضارع لإفادة الأمر.</a:t>
            </a:r>
            <a:endParaRPr lang="ar-SA" sz="3600" dirty="0"/>
          </a:p>
        </p:txBody>
      </p:sp>
    </p:spTree>
    <p:extLst>
      <p:ext uri="{BB962C8B-B14F-4D97-AF65-F5344CB8AC3E}">
        <p14:creationId xmlns:p14="http://schemas.microsoft.com/office/powerpoint/2010/main" val="1603135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r-SA" sz="3600" dirty="0" smtClean="0"/>
              <a:t>ـ لا بد أن يسبقها واو ـ فاء ـ ثم. (ثم لْيقضوا تفثهم ولْيوفوا نذورهم ولْيطوفوا بالبيع العتيق).</a:t>
            </a:r>
          </a:p>
          <a:p>
            <a:pPr marL="0" indent="0">
              <a:buNone/>
            </a:pPr>
            <a:r>
              <a:rPr lang="ar-SA" sz="3600" b="1" dirty="0" smtClean="0"/>
              <a:t>حكمها:</a:t>
            </a:r>
            <a:r>
              <a:rPr lang="ar-SA" sz="3600" dirty="0" smtClean="0"/>
              <a:t> الإظهار مطلقاً.</a:t>
            </a:r>
          </a:p>
          <a:p>
            <a:pPr marL="0" indent="0">
              <a:buNone/>
            </a:pPr>
            <a:r>
              <a:rPr lang="ar-SA" sz="3600" dirty="0" smtClean="0"/>
              <a:t>ـ يحذر القارئ من إدغامها في (فلتقم طائفة ... ولتأت)</a:t>
            </a:r>
          </a:p>
          <a:p>
            <a:pPr marL="0" indent="0">
              <a:buNone/>
            </a:pPr>
            <a:r>
              <a:rPr lang="ar-SA" sz="3600" b="1" dirty="0" smtClean="0"/>
              <a:t>فائدة:</a:t>
            </a:r>
          </a:p>
          <a:p>
            <a:pPr marL="0" indent="0">
              <a:buNone/>
            </a:pPr>
            <a:r>
              <a:rPr lang="ar-SA" sz="3600" dirty="0" smtClean="0"/>
              <a:t>1. إذا ابتُدئ بها اختباراً أو تعليماً يُبتدأ بها مكسورة.</a:t>
            </a:r>
          </a:p>
          <a:p>
            <a:pPr marL="0" indent="0">
              <a:buNone/>
            </a:pPr>
            <a:r>
              <a:rPr lang="ar-SA" sz="3600" dirty="0" smtClean="0"/>
              <a:t>2. لا يجوز الابتداء بلام الأمر إذا كانت مسبوقة (بواو) أو (فاء).</a:t>
            </a:r>
            <a:endParaRPr lang="ar-SA" sz="3600" dirty="0"/>
          </a:p>
        </p:txBody>
      </p:sp>
    </p:spTree>
    <p:extLst>
      <p:ext uri="{BB962C8B-B14F-4D97-AF65-F5344CB8AC3E}">
        <p14:creationId xmlns:p14="http://schemas.microsoft.com/office/powerpoint/2010/main" val="1603135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ar-SA" sz="3600" b="1" dirty="0" smtClean="0"/>
              <a:t>رابعاً: لام الاسم:</a:t>
            </a:r>
          </a:p>
          <a:p>
            <a:pPr marL="0" indent="0">
              <a:buNone/>
            </a:pPr>
            <a:r>
              <a:rPr lang="ar-SA" sz="3600" dirty="0" smtClean="0"/>
              <a:t>لام أصلية في الاسم، ولا تكون إلا متوسطة (ألسنتكم).</a:t>
            </a:r>
          </a:p>
          <a:p>
            <a:pPr marL="0" indent="0">
              <a:buNone/>
            </a:pPr>
            <a:r>
              <a:rPr lang="ar-SA" sz="3600" dirty="0" smtClean="0"/>
              <a:t>ـ لماذا لا تكون اللام في الاسم إلا متوسطة؟</a:t>
            </a:r>
          </a:p>
          <a:p>
            <a:pPr marL="0" indent="0">
              <a:buNone/>
            </a:pPr>
            <a:r>
              <a:rPr lang="ar-SA" sz="3600" b="1" dirty="0" smtClean="0"/>
              <a:t>حكمها:</a:t>
            </a:r>
            <a:r>
              <a:rPr lang="ar-SA" sz="3600" dirty="0" smtClean="0"/>
              <a:t> الإظهار مطلقاً.</a:t>
            </a:r>
          </a:p>
          <a:p>
            <a:pPr marL="0" indent="0">
              <a:buNone/>
            </a:pPr>
            <a:r>
              <a:rPr lang="ar-SA" sz="3600" b="1" dirty="0" smtClean="0"/>
              <a:t>خامساً: لام الحرف:</a:t>
            </a:r>
          </a:p>
          <a:p>
            <a:pPr marL="0" indent="0">
              <a:buNone/>
            </a:pPr>
            <a:r>
              <a:rPr lang="ar-SA" sz="3600" dirty="0" smtClean="0"/>
              <a:t>هي لام ساكنة موجودة في الحرف.</a:t>
            </a:r>
          </a:p>
          <a:p>
            <a:pPr marL="0" indent="0">
              <a:buNone/>
            </a:pPr>
            <a:r>
              <a:rPr lang="ar-SA" sz="3600" dirty="0" smtClean="0"/>
              <a:t>ـ لم تقع إلا في هل ـ بل (هل لك ـ بل لا ـ بل رفعه)</a:t>
            </a:r>
          </a:p>
          <a:p>
            <a:pPr marL="0" indent="0">
              <a:buNone/>
            </a:pPr>
            <a:r>
              <a:rPr lang="ar-SA" sz="3600" b="1" dirty="0" smtClean="0"/>
              <a:t>حكمها: </a:t>
            </a:r>
            <a:r>
              <a:rPr lang="ar-SA" sz="3600" dirty="0" smtClean="0"/>
              <a:t>الإظهار إلا إذا جاء بعدها لام أو راء.</a:t>
            </a:r>
          </a:p>
          <a:p>
            <a:pPr marL="0" indent="0">
              <a:buNone/>
            </a:pPr>
            <a:r>
              <a:rPr lang="ar-SA" sz="3600" dirty="0" smtClean="0"/>
              <a:t>ـ لم تقع الراء بعد (هل) في القرآن الكريم.</a:t>
            </a:r>
            <a:endParaRPr lang="ar-SA" sz="3600" dirty="0"/>
          </a:p>
        </p:txBody>
      </p:sp>
    </p:spTree>
    <p:extLst>
      <p:ext uri="{BB962C8B-B14F-4D97-AF65-F5344CB8AC3E}">
        <p14:creationId xmlns:p14="http://schemas.microsoft.com/office/powerpoint/2010/main" val="1603135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2636912"/>
            <a:ext cx="8229600" cy="13681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ar-SA" sz="4400" b="1" dirty="0" smtClean="0">
                <a:solidFill>
                  <a:srgbClr val="C00000"/>
                </a:solidFill>
              </a:rPr>
              <a:t>حكم التقاء الساكنين</a:t>
            </a:r>
            <a:endParaRPr lang="ar-SA" sz="4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6283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ar-SA" sz="3600" dirty="0" smtClean="0"/>
              <a:t>ـ إذا التقى ساكنان (ولا يكون ذلك إلا وصلاً) فلا بد من التخلص من التقائهما إما بالحذف أو التحريك.</a:t>
            </a:r>
          </a:p>
          <a:p>
            <a:pPr marL="0" indent="0">
              <a:buNone/>
            </a:pPr>
            <a:r>
              <a:rPr lang="ar-SA" sz="3600" b="1" dirty="0" smtClean="0"/>
              <a:t>أولاً: التخلص من التقائهما بالحذف:</a:t>
            </a:r>
          </a:p>
          <a:p>
            <a:pPr marL="0" indent="0">
              <a:buNone/>
            </a:pPr>
            <a:r>
              <a:rPr lang="ar-SA" sz="3600" dirty="0" smtClean="0"/>
              <a:t>يكون ذلك إذا كان الساكن الأول حرف مد (ذاقا الشجرة)</a:t>
            </a:r>
          </a:p>
          <a:p>
            <a:pPr marL="0" indent="0">
              <a:buNone/>
            </a:pPr>
            <a:r>
              <a:rPr lang="ar-SA" sz="3600" dirty="0" smtClean="0"/>
              <a:t>ـ في قوله (تحيِ الموتى) لم يثبت حرف المد رسماً، حينئذٍ يثبت وقفاً لا وصلاً.</a:t>
            </a:r>
          </a:p>
          <a:p>
            <a:pPr marL="0" indent="0">
              <a:buNone/>
            </a:pPr>
            <a:r>
              <a:rPr lang="ar-SA" sz="3600" b="1" dirty="0" smtClean="0"/>
              <a:t>ثانياً: التخلص من التقائهما بالتحريك:</a:t>
            </a:r>
          </a:p>
          <a:p>
            <a:pPr marL="0" indent="0">
              <a:buNone/>
            </a:pPr>
            <a:r>
              <a:rPr lang="ar-SA" sz="3600" dirty="0" smtClean="0"/>
              <a:t>1. التحريك للكسر وهو الأصل (قلِ ادعوا).</a:t>
            </a:r>
          </a:p>
          <a:p>
            <a:pPr marL="0" indent="0">
              <a:buNone/>
            </a:pPr>
            <a:r>
              <a:rPr lang="ar-SA" sz="3600" dirty="0" smtClean="0"/>
              <a:t>2. التحريك للفتح (خروجاً عن الأصل) له صورتان:</a:t>
            </a:r>
          </a:p>
        </p:txBody>
      </p:sp>
    </p:spTree>
    <p:extLst>
      <p:ext uri="{BB962C8B-B14F-4D97-AF65-F5344CB8AC3E}">
        <p14:creationId xmlns:p14="http://schemas.microsoft.com/office/powerpoint/2010/main" val="2689662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60486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r-SA" sz="3600" dirty="0" smtClean="0"/>
              <a:t>الأولى: (مِنْ) كما في (من المؤمنين).</a:t>
            </a:r>
          </a:p>
          <a:p>
            <a:pPr marL="0" indent="0">
              <a:buNone/>
            </a:pPr>
            <a:r>
              <a:rPr lang="ar-SA" sz="3600" dirty="0" smtClean="0"/>
              <a:t>الثانية: ميم آل عمران وصلاً (الـم * الله لا إله إلا هو).</a:t>
            </a:r>
          </a:p>
          <a:p>
            <a:pPr marL="0" indent="0">
              <a:buNone/>
            </a:pPr>
            <a:r>
              <a:rPr lang="ar-SA" sz="3600" dirty="0" smtClean="0"/>
              <a:t>3. التحريك للضم (خروجاً عن الأصل) له صورتان:</a:t>
            </a:r>
          </a:p>
          <a:p>
            <a:pPr marL="0" indent="0">
              <a:buNone/>
            </a:pPr>
            <a:r>
              <a:rPr lang="ar-SA" sz="3600" dirty="0" smtClean="0"/>
              <a:t>الأولى: أن يكون الساكن الأول واو لين </a:t>
            </a:r>
            <a:r>
              <a:rPr lang="ar-SA" sz="3000" dirty="0" smtClean="0"/>
              <a:t>(عصوُا الرسول).</a:t>
            </a:r>
          </a:p>
          <a:p>
            <a:pPr marL="0" indent="0">
              <a:buNone/>
            </a:pPr>
            <a:r>
              <a:rPr lang="ar-SA" sz="3600" dirty="0" smtClean="0"/>
              <a:t>الثانية: أن يكون الساكن الأول ميم جمع (تحتهمُ الأنهار).</a:t>
            </a:r>
          </a:p>
          <a:p>
            <a:pPr marL="0" indent="0">
              <a:buNone/>
            </a:pPr>
            <a:r>
              <a:rPr lang="ar-SA" sz="3600" b="1" dirty="0"/>
              <a:t>ملاحظة:</a:t>
            </a:r>
          </a:p>
          <a:p>
            <a:pPr marL="0" indent="0">
              <a:buNone/>
            </a:pPr>
            <a:r>
              <a:rPr lang="ar-SA" sz="3600" dirty="0"/>
              <a:t>1. يجوز التقاء الساكنين في كلمة واحدة وقفاً ويبقى الحرفان ساكنين سواء كان الحرف الأول حرف مد أو لين أو ساكناً سكوناً صحيحاً. </a:t>
            </a:r>
          </a:p>
        </p:txBody>
      </p:sp>
    </p:spTree>
    <p:extLst>
      <p:ext uri="{BB962C8B-B14F-4D97-AF65-F5344CB8AC3E}">
        <p14:creationId xmlns:p14="http://schemas.microsoft.com/office/powerpoint/2010/main" val="2689662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r-SA" sz="3600" dirty="0" smtClean="0"/>
              <a:t>ـ حرف مد مثل (الحمد لله رب العالمين)</a:t>
            </a:r>
          </a:p>
          <a:p>
            <a:pPr marL="0" indent="0">
              <a:buNone/>
            </a:pPr>
            <a:r>
              <a:rPr lang="ar-SA" sz="3600" dirty="0" smtClean="0"/>
              <a:t>ـ حرف لين مثل (فليعبدوا رب هذا البيت)</a:t>
            </a:r>
          </a:p>
          <a:p>
            <a:pPr marL="0" indent="0">
              <a:buNone/>
            </a:pPr>
            <a:r>
              <a:rPr lang="ar-SA" sz="3600" dirty="0" smtClean="0"/>
              <a:t>ـ حرف صحيح مثل (والفجر)</a:t>
            </a:r>
          </a:p>
          <a:p>
            <a:pPr marL="0" indent="0">
              <a:buNone/>
            </a:pPr>
            <a:r>
              <a:rPr lang="ar-SA" sz="3600" dirty="0" smtClean="0"/>
              <a:t>2. يجوز التقاء الساكنين في كلمة واحدة وصلاً ووقفاً ويبقى الحرفان ساكنين، وذلك بأن يكون الحرف الأول حرف مد أو لين، ويتخلص منه بالمد الطويل 6 حركات.</a:t>
            </a:r>
          </a:p>
          <a:p>
            <a:pPr marL="0" indent="0">
              <a:buNone/>
            </a:pPr>
            <a:r>
              <a:rPr lang="ar-SA" sz="3600" dirty="0" smtClean="0"/>
              <a:t>ـ حرف مد مثل (</a:t>
            </a:r>
            <a:r>
              <a:rPr lang="ar-SA" sz="3600" dirty="0" err="1" smtClean="0"/>
              <a:t>ءالــ</a:t>
            </a:r>
            <a:r>
              <a:rPr lang="ar-SA" sz="3600" baseline="30000" dirty="0" err="1" smtClean="0"/>
              <a:t>ءا</a:t>
            </a:r>
            <a:r>
              <a:rPr lang="ar-SA" sz="3600" dirty="0" err="1" smtClean="0"/>
              <a:t>ــن</a:t>
            </a:r>
            <a:r>
              <a:rPr lang="ar-SA" sz="3600" dirty="0"/>
              <a:t> </a:t>
            </a:r>
            <a:r>
              <a:rPr lang="ar-SA" sz="3600" dirty="0" smtClean="0"/>
              <a:t>ـ الطامة)</a:t>
            </a:r>
          </a:p>
          <a:p>
            <a:pPr marL="0" indent="0">
              <a:buNone/>
            </a:pPr>
            <a:r>
              <a:rPr lang="ar-SA" sz="3600" dirty="0" smtClean="0"/>
              <a:t>ـ حرف لين مثل (عسق).</a:t>
            </a:r>
            <a:endParaRPr lang="ar-SA" sz="3600" dirty="0"/>
          </a:p>
          <a:p>
            <a:pPr marL="0" indent="0">
              <a:buNone/>
            </a:pPr>
            <a:endParaRPr lang="ar-SA" sz="3600" dirty="0"/>
          </a:p>
        </p:txBody>
      </p:sp>
    </p:spTree>
    <p:extLst>
      <p:ext uri="{BB962C8B-B14F-4D97-AF65-F5344CB8AC3E}">
        <p14:creationId xmlns:p14="http://schemas.microsoft.com/office/powerpoint/2010/main" val="2689662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1988840"/>
            <a:ext cx="8229600" cy="165618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ar-SA" sz="4800" dirty="0" smtClean="0">
                <a:latin typeface="DilleniaUPC" pitchFamily="18" charset="-34"/>
                <a:cs typeface="Diwani Bent" pitchFamily="2" charset="-78"/>
              </a:rPr>
              <a:t>تم بحمد لله</a:t>
            </a:r>
            <a:endParaRPr lang="ar-SA" sz="4800" dirty="0">
              <a:latin typeface="DilleniaUPC" pitchFamily="18" charset="-34"/>
              <a:cs typeface="Diwani Bent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89662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سمة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سمة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159902</TotalTime>
  <Words>2117</Words>
  <Application>Microsoft Office PowerPoint</Application>
  <PresentationFormat>عرض على الشاشة (3:4)‏</PresentationFormat>
  <Paragraphs>198</Paragraphs>
  <Slides>35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8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35</vt:i4>
      </vt:variant>
    </vt:vector>
  </HeadingPairs>
  <TitlesOfParts>
    <vt:vector size="44" baseType="lpstr">
      <vt:lpstr>AGA Arabesque</vt:lpstr>
      <vt:lpstr>Arial</vt:lpstr>
      <vt:lpstr>Bader</vt:lpstr>
      <vt:lpstr>Calibri</vt:lpstr>
      <vt:lpstr>DilleniaUPC</vt:lpstr>
      <vt:lpstr>Diwani Bent</vt:lpstr>
      <vt:lpstr>Times New Roman</vt:lpstr>
      <vt:lpstr>Wingdings</vt:lpstr>
      <vt:lpstr>سمة Office</vt:lpstr>
      <vt:lpstr>مساق قرآن كريم3</vt:lpstr>
      <vt:lpstr>التفخيم والترقيق</vt:lpstr>
      <vt:lpstr>تعريف التفخيم والترقيق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مساق قرآن كريم (1) جزء عم</dc:title>
  <dc:creator>ابو مهند</dc:creator>
  <cp:lastModifiedBy>حساب Microsoft</cp:lastModifiedBy>
  <cp:revision>236</cp:revision>
  <dcterms:created xsi:type="dcterms:W3CDTF">2014-09-24T16:34:40Z</dcterms:created>
  <dcterms:modified xsi:type="dcterms:W3CDTF">2022-07-22T12:30:31Z</dcterms:modified>
</cp:coreProperties>
</file>